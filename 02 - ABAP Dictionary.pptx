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4" roundtripDataSignature="AMtx7mgmrY5E2jevCMoHC3TLbjMhcx3L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customschemas.google.com/relationships/presentationmetadata" Target="metadata"/><Relationship Id="rId83" Type="http://schemas.openxmlformats.org/officeDocument/2006/relationships/slide" Target="slides/slide79.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 name="Google Shape;42;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 name="Google Shape;86;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 name="Google Shape;94;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 name="Google Shape;154;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2" name="Google Shape;252;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6" name="Google Shape;386;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2" name="Google Shape;402;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4" name="Google Shape;434;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4" name="Google Shape;444;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2" name="Google Shape;452;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4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8" name="Google Shape;518;p5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p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4" name="Google Shape;534;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p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0" name="Google Shape;550;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6" name="Google Shape;566;p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p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6" name="Google Shape;606;p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4" name="Google Shape;614;p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1" name="Google Shape;631;p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9" name="Google Shape;639;p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5" name="Google Shape;655;p7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3" name="Google Shape;663;p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7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1" name="Google Shape;681;p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9" name="Google Shape;689;p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9" name="Google Shape;699;p7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7" name="Google Shape;707;p7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tx">
  <p:cSld name="TITLE_AND_BODY">
    <p:spTree>
      <p:nvGrpSpPr>
        <p:cNvPr id="10" name="Shape 10"/>
        <p:cNvGrpSpPr/>
        <p:nvPr/>
      </p:nvGrpSpPr>
      <p:grpSpPr>
        <a:xfrm>
          <a:off x="0" y="0"/>
          <a:ext cx="0" cy="0"/>
          <a:chOff x="0" y="0"/>
          <a:chExt cx="0" cy="0"/>
        </a:xfrm>
      </p:grpSpPr>
      <p:sp>
        <p:nvSpPr>
          <p:cNvPr id="11" name="Google Shape;11;p81"/>
          <p:cNvSpPr txBox="1"/>
          <p:nvPr>
            <p:ph type="title"/>
          </p:nvPr>
        </p:nvSpPr>
        <p:spPr>
          <a:xfrm>
            <a:off x="838202" y="365125"/>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2" name="Google Shape;12;p81"/>
          <p:cNvSpPr txBox="1"/>
          <p:nvPr>
            <p:ph idx="1" type="body"/>
          </p:nvPr>
        </p:nvSpPr>
        <p:spPr>
          <a:xfrm>
            <a:off x="838202" y="1825625"/>
            <a:ext cx="10515601"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3" name="Google Shape;13;p81"/>
          <p:cNvSpPr txBox="1"/>
          <p:nvPr>
            <p:ph idx="12" type="sldNum"/>
          </p:nvPr>
        </p:nvSpPr>
        <p:spPr>
          <a:xfrm>
            <a:off x="11095177"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spTree>
      <p:nvGrpSpPr>
        <p:cNvPr id="14" name="Shape 14"/>
        <p:cNvGrpSpPr/>
        <p:nvPr/>
      </p:nvGrpSpPr>
      <p:grpSpPr>
        <a:xfrm>
          <a:off x="0" y="0"/>
          <a:ext cx="0" cy="0"/>
          <a:chOff x="0" y="0"/>
          <a:chExt cx="0" cy="0"/>
        </a:xfrm>
      </p:grpSpPr>
      <p:sp>
        <p:nvSpPr>
          <p:cNvPr id="15" name="Google Shape;15;p82"/>
          <p:cNvSpPr txBox="1"/>
          <p:nvPr>
            <p:ph type="title"/>
          </p:nvPr>
        </p:nvSpPr>
        <p:spPr>
          <a:xfrm>
            <a:off x="831852" y="1709738"/>
            <a:ext cx="10515601" cy="2852737"/>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6000"/>
              <a:buFont typeface="Calibri"/>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16" name="Google Shape;16;p82"/>
          <p:cNvSpPr txBox="1"/>
          <p:nvPr>
            <p:ph idx="1" type="body"/>
          </p:nvPr>
        </p:nvSpPr>
        <p:spPr>
          <a:xfrm>
            <a:off x="831852" y="4589464"/>
            <a:ext cx="10515601" cy="15001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888888"/>
              </a:buClr>
              <a:buSzPts val="2400"/>
              <a:buFont typeface="Calibri"/>
              <a:buNone/>
              <a:defRPr sz="2400">
                <a:solidFill>
                  <a:srgbClr val="888888"/>
                </a:solidFill>
              </a:defRPr>
            </a:lvl1pPr>
            <a:lvl2pPr indent="-228600" lvl="1" marL="914400" algn="l">
              <a:lnSpc>
                <a:spcPct val="90000"/>
              </a:lnSpc>
              <a:spcBef>
                <a:spcPts val="1000"/>
              </a:spcBef>
              <a:spcAft>
                <a:spcPts val="0"/>
              </a:spcAft>
              <a:buClr>
                <a:srgbClr val="888888"/>
              </a:buClr>
              <a:buSzPts val="2400"/>
              <a:buFont typeface="Calibri"/>
              <a:buNone/>
              <a:defRPr sz="2400">
                <a:solidFill>
                  <a:srgbClr val="888888"/>
                </a:solidFill>
              </a:defRPr>
            </a:lvl2pPr>
            <a:lvl3pPr indent="-228600" lvl="2" marL="1371600" algn="l">
              <a:lnSpc>
                <a:spcPct val="90000"/>
              </a:lnSpc>
              <a:spcBef>
                <a:spcPts val="1000"/>
              </a:spcBef>
              <a:spcAft>
                <a:spcPts val="0"/>
              </a:spcAft>
              <a:buClr>
                <a:srgbClr val="888888"/>
              </a:buClr>
              <a:buSzPts val="2400"/>
              <a:buFont typeface="Calibri"/>
              <a:buNone/>
              <a:defRPr sz="2400">
                <a:solidFill>
                  <a:srgbClr val="888888"/>
                </a:solidFill>
              </a:defRPr>
            </a:lvl3pPr>
            <a:lvl4pPr indent="-228600" lvl="3" marL="1828800" algn="l">
              <a:lnSpc>
                <a:spcPct val="90000"/>
              </a:lnSpc>
              <a:spcBef>
                <a:spcPts val="1000"/>
              </a:spcBef>
              <a:spcAft>
                <a:spcPts val="0"/>
              </a:spcAft>
              <a:buClr>
                <a:srgbClr val="888888"/>
              </a:buClr>
              <a:buSzPts val="2400"/>
              <a:buFont typeface="Calibri"/>
              <a:buNone/>
              <a:defRPr sz="2400">
                <a:solidFill>
                  <a:srgbClr val="888888"/>
                </a:solidFill>
              </a:defRPr>
            </a:lvl4pPr>
            <a:lvl5pPr indent="-228600" lvl="4" marL="2286000" algn="l">
              <a:lnSpc>
                <a:spcPct val="90000"/>
              </a:lnSpc>
              <a:spcBef>
                <a:spcPts val="1000"/>
              </a:spcBef>
              <a:spcAft>
                <a:spcPts val="0"/>
              </a:spcAft>
              <a:buClr>
                <a:srgbClr val="888888"/>
              </a:buClr>
              <a:buSzPts val="2400"/>
              <a:buFont typeface="Calibri"/>
              <a:buNone/>
              <a:defRPr sz="2400">
                <a:solidFill>
                  <a:srgbClr val="888888"/>
                </a:solidFill>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17" name="Google Shape;17;p82"/>
          <p:cNvSpPr txBox="1"/>
          <p:nvPr>
            <p:ph idx="12" type="sldNum"/>
          </p:nvPr>
        </p:nvSpPr>
        <p:spPr>
          <a:xfrm>
            <a:off x="11095177"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spTree>
      <p:nvGrpSpPr>
        <p:cNvPr id="18" name="Shape 18"/>
        <p:cNvGrpSpPr/>
        <p:nvPr/>
      </p:nvGrpSpPr>
      <p:grpSpPr>
        <a:xfrm>
          <a:off x="0" y="0"/>
          <a:ext cx="0" cy="0"/>
          <a:chOff x="0" y="0"/>
          <a:chExt cx="0" cy="0"/>
        </a:xfrm>
      </p:grpSpPr>
      <p:sp>
        <p:nvSpPr>
          <p:cNvPr id="19" name="Google Shape;19;p83"/>
          <p:cNvSpPr txBox="1"/>
          <p:nvPr>
            <p:ph type="title"/>
          </p:nvPr>
        </p:nvSpPr>
        <p:spPr>
          <a:xfrm>
            <a:off x="838202" y="365125"/>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0" name="Google Shape;20;p83"/>
          <p:cNvSpPr txBox="1"/>
          <p:nvPr>
            <p:ph idx="1" type="body"/>
          </p:nvPr>
        </p:nvSpPr>
        <p:spPr>
          <a:xfrm>
            <a:off x="838200" y="1825625"/>
            <a:ext cx="5181601" cy="435133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1" name="Google Shape;21;p83"/>
          <p:cNvSpPr txBox="1"/>
          <p:nvPr>
            <p:ph idx="12" type="sldNum"/>
          </p:nvPr>
        </p:nvSpPr>
        <p:spPr>
          <a:xfrm>
            <a:off x="11095177"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p:cSld name="Comparison">
    <p:spTree>
      <p:nvGrpSpPr>
        <p:cNvPr id="22" name="Shape 22"/>
        <p:cNvGrpSpPr/>
        <p:nvPr/>
      </p:nvGrpSpPr>
      <p:grpSpPr>
        <a:xfrm>
          <a:off x="0" y="0"/>
          <a:ext cx="0" cy="0"/>
          <a:chOff x="0" y="0"/>
          <a:chExt cx="0" cy="0"/>
        </a:xfrm>
      </p:grpSpPr>
      <p:sp>
        <p:nvSpPr>
          <p:cNvPr id="23" name="Google Shape;23;p84"/>
          <p:cNvSpPr txBox="1"/>
          <p:nvPr>
            <p:ph type="title"/>
          </p:nvPr>
        </p:nvSpPr>
        <p:spPr>
          <a:xfrm>
            <a:off x="839788" y="365125"/>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4" name="Google Shape;24;p84"/>
          <p:cNvSpPr txBox="1"/>
          <p:nvPr>
            <p:ph idx="1" type="body"/>
          </p:nvPr>
        </p:nvSpPr>
        <p:spPr>
          <a:xfrm>
            <a:off x="839788" y="1681163"/>
            <a:ext cx="5157789" cy="823913"/>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2400"/>
              <a:buFont typeface="Calibri"/>
              <a:buNone/>
              <a:defRPr b="1" sz="2400"/>
            </a:lvl1pPr>
            <a:lvl2pPr indent="-228600" lvl="1" marL="914400" algn="l">
              <a:lnSpc>
                <a:spcPct val="90000"/>
              </a:lnSpc>
              <a:spcBef>
                <a:spcPts val="1000"/>
              </a:spcBef>
              <a:spcAft>
                <a:spcPts val="0"/>
              </a:spcAft>
              <a:buClr>
                <a:srgbClr val="000000"/>
              </a:buClr>
              <a:buSzPts val="2400"/>
              <a:buFont typeface="Calibri"/>
              <a:buNone/>
              <a:defRPr b="1" sz="2400"/>
            </a:lvl2pPr>
            <a:lvl3pPr indent="-228600" lvl="2" marL="1371600" algn="l">
              <a:lnSpc>
                <a:spcPct val="90000"/>
              </a:lnSpc>
              <a:spcBef>
                <a:spcPts val="1000"/>
              </a:spcBef>
              <a:spcAft>
                <a:spcPts val="0"/>
              </a:spcAft>
              <a:buClr>
                <a:srgbClr val="000000"/>
              </a:buClr>
              <a:buSzPts val="2400"/>
              <a:buFont typeface="Calibri"/>
              <a:buNone/>
              <a:defRPr b="1" sz="2400"/>
            </a:lvl3pPr>
            <a:lvl4pPr indent="-228600" lvl="3" marL="1828800" algn="l">
              <a:lnSpc>
                <a:spcPct val="90000"/>
              </a:lnSpc>
              <a:spcBef>
                <a:spcPts val="1000"/>
              </a:spcBef>
              <a:spcAft>
                <a:spcPts val="0"/>
              </a:spcAft>
              <a:buClr>
                <a:srgbClr val="000000"/>
              </a:buClr>
              <a:buSzPts val="2400"/>
              <a:buFont typeface="Calibri"/>
              <a:buNone/>
              <a:defRPr b="1" sz="2400"/>
            </a:lvl4pPr>
            <a:lvl5pPr indent="-228600" lvl="4" marL="2286000" algn="l">
              <a:lnSpc>
                <a:spcPct val="90000"/>
              </a:lnSpc>
              <a:spcBef>
                <a:spcPts val="1000"/>
              </a:spcBef>
              <a:spcAft>
                <a:spcPts val="0"/>
              </a:spcAft>
              <a:buClr>
                <a:srgbClr val="000000"/>
              </a:buClr>
              <a:buSzPts val="2400"/>
              <a:buFont typeface="Calibri"/>
              <a:buNone/>
              <a:defRPr b="1" sz="24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5" name="Google Shape;25;p84"/>
          <p:cNvSpPr txBox="1"/>
          <p:nvPr>
            <p:ph idx="2" type="body"/>
          </p:nvPr>
        </p:nvSpPr>
        <p:spPr>
          <a:xfrm>
            <a:off x="6172201" y="1681163"/>
            <a:ext cx="5183189" cy="823913"/>
          </a:xfrm>
          <a:prstGeom prst="rect">
            <a:avLst/>
          </a:prstGeom>
          <a:noFill/>
          <a:ln>
            <a:noFill/>
          </a:ln>
        </p:spPr>
        <p:txBody>
          <a:bodyPr anchorCtr="0" anchor="b"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26" name="Google Shape;26;p84"/>
          <p:cNvSpPr txBox="1"/>
          <p:nvPr>
            <p:ph idx="12" type="sldNum"/>
          </p:nvPr>
        </p:nvSpPr>
        <p:spPr>
          <a:xfrm>
            <a:off x="11095177"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spTree>
      <p:nvGrpSpPr>
        <p:cNvPr id="27" name="Shape 27"/>
        <p:cNvGrpSpPr/>
        <p:nvPr/>
      </p:nvGrpSpPr>
      <p:grpSpPr>
        <a:xfrm>
          <a:off x="0" y="0"/>
          <a:ext cx="0" cy="0"/>
          <a:chOff x="0" y="0"/>
          <a:chExt cx="0" cy="0"/>
        </a:xfrm>
      </p:grpSpPr>
      <p:sp>
        <p:nvSpPr>
          <p:cNvPr id="28" name="Google Shape;28;p85"/>
          <p:cNvSpPr txBox="1"/>
          <p:nvPr>
            <p:ph type="title"/>
          </p:nvPr>
        </p:nvSpPr>
        <p:spPr>
          <a:xfrm>
            <a:off x="838202" y="365125"/>
            <a:ext cx="10515601" cy="1325563"/>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29" name="Google Shape;29;p85"/>
          <p:cNvSpPr txBox="1"/>
          <p:nvPr>
            <p:ph idx="12" type="sldNum"/>
          </p:nvPr>
        </p:nvSpPr>
        <p:spPr>
          <a:xfrm>
            <a:off x="11095177"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p:cSld name="Content with Caption">
    <p:spTree>
      <p:nvGrpSpPr>
        <p:cNvPr id="30" name="Shape 30"/>
        <p:cNvGrpSpPr/>
        <p:nvPr/>
      </p:nvGrpSpPr>
      <p:grpSpPr>
        <a:xfrm>
          <a:off x="0" y="0"/>
          <a:ext cx="0" cy="0"/>
          <a:chOff x="0" y="0"/>
          <a:chExt cx="0" cy="0"/>
        </a:xfrm>
      </p:grpSpPr>
      <p:sp>
        <p:nvSpPr>
          <p:cNvPr id="31" name="Google Shape;31;p86"/>
          <p:cNvSpPr txBox="1"/>
          <p:nvPr>
            <p:ph type="title"/>
          </p:nvPr>
        </p:nvSpPr>
        <p:spPr>
          <a:xfrm>
            <a:off x="839790" y="457200"/>
            <a:ext cx="3932236"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2" name="Google Shape;32;p86"/>
          <p:cNvSpPr txBox="1"/>
          <p:nvPr>
            <p:ph idx="1" type="body"/>
          </p:nvPr>
        </p:nvSpPr>
        <p:spPr>
          <a:xfrm>
            <a:off x="5183187" y="987425"/>
            <a:ext cx="6172203" cy="4873625"/>
          </a:xfrm>
          <a:prstGeom prst="rect">
            <a:avLst/>
          </a:prstGeom>
          <a:noFill/>
          <a:ln>
            <a:noFill/>
          </a:ln>
        </p:spPr>
        <p:txBody>
          <a:bodyPr anchorCtr="0" anchor="t" bIns="45700" lIns="45700" spcFirstLastPara="1" rIns="45700" wrap="square" tIns="45700">
            <a:normAutofit/>
          </a:bodyPr>
          <a:lstStyle>
            <a:lvl1pPr indent="-431800" lvl="0" marL="457200" algn="l">
              <a:lnSpc>
                <a:spcPct val="90000"/>
              </a:lnSpc>
              <a:spcBef>
                <a:spcPts val="1000"/>
              </a:spcBef>
              <a:spcAft>
                <a:spcPts val="0"/>
              </a:spcAft>
              <a:buClr>
                <a:srgbClr val="000000"/>
              </a:buClr>
              <a:buSzPts val="3200"/>
              <a:buChar char="•"/>
              <a:defRPr sz="3200"/>
            </a:lvl1pPr>
            <a:lvl2pPr indent="-431800" lvl="1" marL="914400" algn="l">
              <a:lnSpc>
                <a:spcPct val="90000"/>
              </a:lnSpc>
              <a:spcBef>
                <a:spcPts val="1000"/>
              </a:spcBef>
              <a:spcAft>
                <a:spcPts val="0"/>
              </a:spcAft>
              <a:buClr>
                <a:srgbClr val="000000"/>
              </a:buClr>
              <a:buSzPts val="3200"/>
              <a:buChar char="•"/>
              <a:defRPr sz="3200"/>
            </a:lvl2pPr>
            <a:lvl3pPr indent="-431800" lvl="2" marL="1371600" algn="l">
              <a:lnSpc>
                <a:spcPct val="90000"/>
              </a:lnSpc>
              <a:spcBef>
                <a:spcPts val="1000"/>
              </a:spcBef>
              <a:spcAft>
                <a:spcPts val="0"/>
              </a:spcAft>
              <a:buClr>
                <a:srgbClr val="000000"/>
              </a:buClr>
              <a:buSzPts val="3200"/>
              <a:buChar char="•"/>
              <a:defRPr sz="3200"/>
            </a:lvl3pPr>
            <a:lvl4pPr indent="-431800" lvl="3" marL="1828800" algn="l">
              <a:lnSpc>
                <a:spcPct val="90000"/>
              </a:lnSpc>
              <a:spcBef>
                <a:spcPts val="1000"/>
              </a:spcBef>
              <a:spcAft>
                <a:spcPts val="0"/>
              </a:spcAft>
              <a:buClr>
                <a:srgbClr val="000000"/>
              </a:buClr>
              <a:buSzPts val="3200"/>
              <a:buChar char="•"/>
              <a:defRPr sz="3200"/>
            </a:lvl4pPr>
            <a:lvl5pPr indent="-431800" lvl="4" marL="2286000" algn="l">
              <a:lnSpc>
                <a:spcPct val="90000"/>
              </a:lnSpc>
              <a:spcBef>
                <a:spcPts val="1000"/>
              </a:spcBef>
              <a:spcAft>
                <a:spcPts val="0"/>
              </a:spcAft>
              <a:buClr>
                <a:srgbClr val="000000"/>
              </a:buClr>
              <a:buSzPts val="3200"/>
              <a:buChar char="•"/>
              <a:defRPr sz="32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3" name="Google Shape;33;p86"/>
          <p:cNvSpPr txBox="1"/>
          <p:nvPr>
            <p:ph idx="2" type="body"/>
          </p:nvPr>
        </p:nvSpPr>
        <p:spPr>
          <a:xfrm>
            <a:off x="839790" y="2057400"/>
            <a:ext cx="3932236" cy="3811588"/>
          </a:xfrm>
          <a:prstGeom prst="rect">
            <a:avLst/>
          </a:prstGeom>
          <a:noFill/>
          <a:ln>
            <a:noFill/>
          </a:ln>
        </p:spPr>
        <p:txBody>
          <a:bodyPr anchorCtr="0" anchor="t" bIns="45700" lIns="45700" spcFirstLastPara="1" rIns="45700" wrap="square" tIns="45700">
            <a:normAutofit/>
          </a:bodyPr>
          <a:lstStyle>
            <a:lvl1pPr indent="-342900" lvl="0" marL="457200" algn="l">
              <a:lnSpc>
                <a:spcPct val="90000"/>
              </a:lnSpc>
              <a:spcBef>
                <a:spcPts val="1000"/>
              </a:spcBef>
              <a:spcAft>
                <a:spcPts val="0"/>
              </a:spcAft>
              <a:buClr>
                <a:srgbClr val="000000"/>
              </a:buClr>
              <a:buSzPts val="1800"/>
              <a:buChar char="•"/>
              <a:defRPr/>
            </a:lvl1pPr>
            <a:lvl2pPr indent="-342900" lvl="1" marL="914400" algn="l">
              <a:lnSpc>
                <a:spcPct val="90000"/>
              </a:lnSpc>
              <a:spcBef>
                <a:spcPts val="1000"/>
              </a:spcBef>
              <a:spcAft>
                <a:spcPts val="0"/>
              </a:spcAft>
              <a:buClr>
                <a:srgbClr val="000000"/>
              </a:buClr>
              <a:buSzPts val="1800"/>
              <a:buChar char="•"/>
              <a:defRPr/>
            </a:lvl2pPr>
            <a:lvl3pPr indent="-342900" lvl="2" marL="1371600" algn="l">
              <a:lnSpc>
                <a:spcPct val="90000"/>
              </a:lnSpc>
              <a:spcBef>
                <a:spcPts val="1000"/>
              </a:spcBef>
              <a:spcAft>
                <a:spcPts val="0"/>
              </a:spcAft>
              <a:buClr>
                <a:srgbClr val="000000"/>
              </a:buClr>
              <a:buSzPts val="1800"/>
              <a:buChar char="•"/>
              <a:defRPr/>
            </a:lvl3pPr>
            <a:lvl4pPr indent="-342900" lvl="3" marL="1828800" algn="l">
              <a:lnSpc>
                <a:spcPct val="90000"/>
              </a:lnSpc>
              <a:spcBef>
                <a:spcPts val="1000"/>
              </a:spcBef>
              <a:spcAft>
                <a:spcPts val="0"/>
              </a:spcAft>
              <a:buClr>
                <a:srgbClr val="000000"/>
              </a:buClr>
              <a:buSzPts val="1800"/>
              <a:buChar char="•"/>
              <a:defRPr/>
            </a:lvl4pPr>
            <a:lvl5pPr indent="-342900" lvl="4" marL="2286000" algn="l">
              <a:lnSpc>
                <a:spcPct val="90000"/>
              </a:lnSpc>
              <a:spcBef>
                <a:spcPts val="1000"/>
              </a:spcBef>
              <a:spcAft>
                <a:spcPts val="0"/>
              </a:spcAft>
              <a:buClr>
                <a:srgbClr val="000000"/>
              </a:buClr>
              <a:buSzPts val="1800"/>
              <a:buChar char="•"/>
              <a:defRPr/>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4" name="Google Shape;34;p86"/>
          <p:cNvSpPr txBox="1"/>
          <p:nvPr>
            <p:ph idx="12" type="sldNum"/>
          </p:nvPr>
        </p:nvSpPr>
        <p:spPr>
          <a:xfrm>
            <a:off x="11095177"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p:cSld name="Picture with Caption">
    <p:spTree>
      <p:nvGrpSpPr>
        <p:cNvPr id="35" name="Shape 35"/>
        <p:cNvGrpSpPr/>
        <p:nvPr/>
      </p:nvGrpSpPr>
      <p:grpSpPr>
        <a:xfrm>
          <a:off x="0" y="0"/>
          <a:ext cx="0" cy="0"/>
          <a:chOff x="0" y="0"/>
          <a:chExt cx="0" cy="0"/>
        </a:xfrm>
      </p:grpSpPr>
      <p:sp>
        <p:nvSpPr>
          <p:cNvPr id="36" name="Google Shape;36;p87"/>
          <p:cNvSpPr txBox="1"/>
          <p:nvPr>
            <p:ph type="title"/>
          </p:nvPr>
        </p:nvSpPr>
        <p:spPr>
          <a:xfrm>
            <a:off x="839790" y="457200"/>
            <a:ext cx="3932236" cy="1600200"/>
          </a:xfrm>
          <a:prstGeom prst="rect">
            <a:avLst/>
          </a:prstGeom>
          <a:noFill/>
          <a:ln>
            <a:noFill/>
          </a:ln>
        </p:spPr>
        <p:txBody>
          <a:bodyPr anchorCtr="0" anchor="b" bIns="45700" lIns="45700" spcFirstLastPara="1" rIns="45700" wrap="square" tIns="45700">
            <a:normAutofit/>
          </a:bodyPr>
          <a:lstStyle>
            <a:lvl1pPr lvl="0" algn="l">
              <a:lnSpc>
                <a:spcPct val="90000"/>
              </a:lnSpc>
              <a:spcBef>
                <a:spcPts val="0"/>
              </a:spcBef>
              <a:spcAft>
                <a:spcPts val="0"/>
              </a:spcAft>
              <a:buClr>
                <a:srgbClr val="000000"/>
              </a:buClr>
              <a:buSzPts val="3200"/>
              <a:buFont typeface="Calibri"/>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p:txBody>
      </p:sp>
      <p:sp>
        <p:nvSpPr>
          <p:cNvPr id="37" name="Google Shape;37;p87"/>
          <p:cNvSpPr/>
          <p:nvPr>
            <p:ph idx="2" type="pic"/>
          </p:nvPr>
        </p:nvSpPr>
        <p:spPr>
          <a:xfrm>
            <a:off x="5183187" y="987425"/>
            <a:ext cx="6172203" cy="4873625"/>
          </a:xfrm>
          <a:prstGeom prst="rect">
            <a:avLst/>
          </a:prstGeom>
          <a:noFill/>
          <a:ln>
            <a:noFill/>
          </a:ln>
        </p:spPr>
      </p:sp>
      <p:sp>
        <p:nvSpPr>
          <p:cNvPr id="38" name="Google Shape;38;p87"/>
          <p:cNvSpPr txBox="1"/>
          <p:nvPr>
            <p:ph idx="1" type="body"/>
          </p:nvPr>
        </p:nvSpPr>
        <p:spPr>
          <a:xfrm>
            <a:off x="839790" y="2057400"/>
            <a:ext cx="3932236" cy="3811588"/>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000000"/>
              </a:buClr>
              <a:buSzPts val="1600"/>
              <a:buFont typeface="Calibri"/>
              <a:buNone/>
              <a:defRPr sz="1600"/>
            </a:lvl1pPr>
            <a:lvl2pPr indent="-228600" lvl="1" marL="914400" algn="l">
              <a:lnSpc>
                <a:spcPct val="90000"/>
              </a:lnSpc>
              <a:spcBef>
                <a:spcPts val="1000"/>
              </a:spcBef>
              <a:spcAft>
                <a:spcPts val="0"/>
              </a:spcAft>
              <a:buClr>
                <a:srgbClr val="000000"/>
              </a:buClr>
              <a:buSzPts val="1600"/>
              <a:buFont typeface="Calibri"/>
              <a:buNone/>
              <a:defRPr sz="1600"/>
            </a:lvl2pPr>
            <a:lvl3pPr indent="-228600" lvl="2" marL="1371600" algn="l">
              <a:lnSpc>
                <a:spcPct val="90000"/>
              </a:lnSpc>
              <a:spcBef>
                <a:spcPts val="1000"/>
              </a:spcBef>
              <a:spcAft>
                <a:spcPts val="0"/>
              </a:spcAft>
              <a:buClr>
                <a:srgbClr val="000000"/>
              </a:buClr>
              <a:buSzPts val="1600"/>
              <a:buFont typeface="Calibri"/>
              <a:buNone/>
              <a:defRPr sz="1600"/>
            </a:lvl3pPr>
            <a:lvl4pPr indent="-228600" lvl="3" marL="1828800" algn="l">
              <a:lnSpc>
                <a:spcPct val="90000"/>
              </a:lnSpc>
              <a:spcBef>
                <a:spcPts val="1000"/>
              </a:spcBef>
              <a:spcAft>
                <a:spcPts val="0"/>
              </a:spcAft>
              <a:buClr>
                <a:srgbClr val="000000"/>
              </a:buClr>
              <a:buSzPts val="1600"/>
              <a:buFont typeface="Calibri"/>
              <a:buNone/>
              <a:defRPr sz="1600"/>
            </a:lvl4pPr>
            <a:lvl5pPr indent="-228600" lvl="4" marL="2286000" algn="l">
              <a:lnSpc>
                <a:spcPct val="90000"/>
              </a:lnSpc>
              <a:spcBef>
                <a:spcPts val="1000"/>
              </a:spcBef>
              <a:spcAft>
                <a:spcPts val="0"/>
              </a:spcAft>
              <a:buClr>
                <a:srgbClr val="000000"/>
              </a:buClr>
              <a:buSzPts val="1600"/>
              <a:buFont typeface="Calibri"/>
              <a:buNone/>
              <a:defRPr sz="1600"/>
            </a:lvl5pPr>
            <a:lvl6pPr indent="-342900" lvl="5" marL="2743200" algn="l">
              <a:lnSpc>
                <a:spcPct val="90000"/>
              </a:lnSpc>
              <a:spcBef>
                <a:spcPts val="1000"/>
              </a:spcBef>
              <a:spcAft>
                <a:spcPts val="0"/>
              </a:spcAft>
              <a:buClr>
                <a:srgbClr val="000000"/>
              </a:buClr>
              <a:buSzPts val="1800"/>
              <a:buChar char="•"/>
              <a:defRPr/>
            </a:lvl6pPr>
            <a:lvl7pPr indent="-342900" lvl="6" marL="3200400" algn="l">
              <a:lnSpc>
                <a:spcPct val="90000"/>
              </a:lnSpc>
              <a:spcBef>
                <a:spcPts val="1000"/>
              </a:spcBef>
              <a:spcAft>
                <a:spcPts val="0"/>
              </a:spcAft>
              <a:buClr>
                <a:srgbClr val="000000"/>
              </a:buClr>
              <a:buSzPts val="1800"/>
              <a:buChar char="•"/>
              <a:defRPr/>
            </a:lvl7pPr>
            <a:lvl8pPr indent="-342900" lvl="7" marL="3657600" algn="l">
              <a:lnSpc>
                <a:spcPct val="90000"/>
              </a:lnSpc>
              <a:spcBef>
                <a:spcPts val="1000"/>
              </a:spcBef>
              <a:spcAft>
                <a:spcPts val="0"/>
              </a:spcAft>
              <a:buClr>
                <a:srgbClr val="000000"/>
              </a:buClr>
              <a:buSzPts val="1800"/>
              <a:buChar char="•"/>
              <a:defRPr/>
            </a:lvl8pPr>
            <a:lvl9pPr indent="-342900" lvl="8" marL="4114800" algn="l">
              <a:lnSpc>
                <a:spcPct val="90000"/>
              </a:lnSpc>
              <a:spcBef>
                <a:spcPts val="1000"/>
              </a:spcBef>
              <a:spcAft>
                <a:spcPts val="0"/>
              </a:spcAft>
              <a:buClr>
                <a:srgbClr val="000000"/>
              </a:buClr>
              <a:buSzPts val="1800"/>
              <a:buChar char="•"/>
              <a:defRPr/>
            </a:lvl9pPr>
          </a:lstStyle>
          <a:p/>
        </p:txBody>
      </p:sp>
      <p:sp>
        <p:nvSpPr>
          <p:cNvPr id="39" name="Google Shape;39;p87"/>
          <p:cNvSpPr txBox="1"/>
          <p:nvPr>
            <p:ph idx="12" type="sldNum"/>
          </p:nvPr>
        </p:nvSpPr>
        <p:spPr>
          <a:xfrm>
            <a:off x="11095177" y="6414761"/>
            <a:ext cx="258624" cy="248306"/>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80"/>
          <p:cNvSpPr txBox="1"/>
          <p:nvPr>
            <p:ph type="title"/>
          </p:nvPr>
        </p:nvSpPr>
        <p:spPr>
          <a:xfrm>
            <a:off x="838202" y="365125"/>
            <a:ext cx="10515601" cy="1325563"/>
          </a:xfrm>
          <a:prstGeom prst="rect">
            <a:avLst/>
          </a:prstGeom>
          <a:noFill/>
          <a:ln>
            <a:noFill/>
          </a:ln>
        </p:spPr>
        <p:txBody>
          <a:bodyPr anchorCtr="0" anchor="ctr" bIns="45700" lIns="45700" spcFirstLastPara="1" rIns="45700" wrap="square" tIns="45700">
            <a:normAutofit/>
          </a:bodyPr>
          <a:lstStyle>
            <a:lvl1pPr lvl="0"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80"/>
          <p:cNvSpPr txBox="1"/>
          <p:nvPr>
            <p:ph idx="1" type="body"/>
          </p:nvPr>
        </p:nvSpPr>
        <p:spPr>
          <a:xfrm>
            <a:off x="838202" y="1825625"/>
            <a:ext cx="10515601" cy="4351338"/>
          </a:xfrm>
          <a:prstGeom prst="rect">
            <a:avLst/>
          </a:prstGeom>
          <a:noFill/>
          <a:ln>
            <a:noFill/>
          </a:ln>
        </p:spPr>
        <p:txBody>
          <a:bodyPr anchorCtr="0" anchor="t" bIns="45700" lIns="45700" spcFirstLastPara="1" rIns="45700" wrap="square" tIns="45700">
            <a:normAutofit/>
          </a:bodyPr>
          <a:lstStyle>
            <a:lvl1pPr indent="-406400" lvl="0" marL="457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1pPr>
            <a:lvl2pPr indent="-406400" lvl="1" marL="914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2pPr>
            <a:lvl3pPr indent="-406400" lvl="2" marL="1371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3pPr>
            <a:lvl4pPr indent="-406400" lvl="3" marL="1828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4pPr>
            <a:lvl5pPr indent="-406400" lvl="4" marL="22860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5pPr>
            <a:lvl6pPr indent="-406400" lvl="5" marL="27432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6pPr>
            <a:lvl7pPr indent="-406400" lvl="6" marL="32004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7pPr>
            <a:lvl8pPr indent="-406400" lvl="7" marL="36576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8pPr>
            <a:lvl9pPr indent="-406400" lvl="8" marL="4114800" marR="0" rtl="0" algn="l">
              <a:lnSpc>
                <a:spcPct val="90000"/>
              </a:lnSpc>
              <a:spcBef>
                <a:spcPts val="1000"/>
              </a:spcBef>
              <a:spcAft>
                <a:spcPts val="0"/>
              </a:spcAft>
              <a:buClr>
                <a:srgbClr val="000000"/>
              </a:buClr>
              <a:buSzPts val="2800"/>
              <a:buFont typeface="Arial"/>
              <a:buChar char="•"/>
              <a:defRPr b="0" i="0" sz="2800" u="none" cap="none" strike="noStrike">
                <a:solidFill>
                  <a:srgbClr val="000000"/>
                </a:solidFill>
                <a:latin typeface="Calibri"/>
                <a:ea typeface="Calibri"/>
                <a:cs typeface="Calibri"/>
                <a:sym typeface="Calibri"/>
              </a:defRPr>
            </a:lvl9pPr>
          </a:lstStyle>
          <a:p/>
        </p:txBody>
      </p:sp>
      <p:cxnSp>
        <p:nvCxnSpPr>
          <p:cNvPr id="8" name="Google Shape;8;p80"/>
          <p:cNvCxnSpPr/>
          <p:nvPr/>
        </p:nvCxnSpPr>
        <p:spPr>
          <a:xfrm rot="10800000">
            <a:off x="11366378" y="6459014"/>
            <a:ext cx="3" cy="159415"/>
          </a:xfrm>
          <a:prstGeom prst="straightConnector1">
            <a:avLst/>
          </a:prstGeom>
          <a:noFill/>
          <a:ln cap="rnd" cmpd="sng" w="19050">
            <a:solidFill>
              <a:srgbClr val="8ED656"/>
            </a:solidFill>
            <a:prstDash val="solid"/>
            <a:miter lim="8000"/>
            <a:headEnd len="sm" w="sm" type="none"/>
            <a:tailEnd len="sm" w="sm" type="none"/>
          </a:ln>
        </p:spPr>
      </p:cxnSp>
      <p:sp>
        <p:nvSpPr>
          <p:cNvPr id="9" name="Google Shape;9;p80"/>
          <p:cNvSpPr txBox="1"/>
          <p:nvPr>
            <p:ph idx="12" type="sldNum"/>
          </p:nvPr>
        </p:nvSpPr>
        <p:spPr>
          <a:xfrm>
            <a:off x="11095177" y="6414761"/>
            <a:ext cx="258624" cy="248306"/>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2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5" name="Google Shape;45;p1"/>
          <p:cNvSpPr txBox="1"/>
          <p:nvPr/>
        </p:nvSpPr>
        <p:spPr>
          <a:xfrm>
            <a:off x="2020186" y="2460208"/>
            <a:ext cx="6847367" cy="6463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600"/>
              <a:buFont typeface="Calibri"/>
              <a:buNone/>
            </a:pPr>
            <a:r>
              <a:rPr b="1" i="0" lang="en-US" sz="3600" u="none" cap="none" strike="noStrike">
                <a:solidFill>
                  <a:srgbClr val="0E5AEE"/>
                </a:solidFill>
                <a:latin typeface="Calibri"/>
                <a:ea typeface="Calibri"/>
                <a:cs typeface="Calibri"/>
                <a:sym typeface="Calibri"/>
              </a:rPr>
              <a:t>                       </a:t>
            </a:r>
            <a:r>
              <a:rPr b="1" i="0" lang="en-US" sz="4000" u="none" cap="none" strike="noStrike">
                <a:solidFill>
                  <a:srgbClr val="0E5AEE"/>
                </a:solidFill>
                <a:latin typeface="Calibri"/>
                <a:ea typeface="Calibri"/>
                <a:cs typeface="Calibri"/>
                <a:sym typeface="Calibri"/>
              </a:rPr>
              <a:t>ABAP Dictionary</a:t>
            </a:r>
            <a:endParaRPr b="1" i="0" sz="4000" u="none" cap="none" strike="noStrike">
              <a:solidFill>
                <a:srgbClr val="0E5AEE"/>
              </a:solidFill>
              <a:latin typeface="Calibri"/>
              <a:ea typeface="Calibri"/>
              <a:cs typeface="Calibri"/>
              <a:sym typeface="Calibri"/>
            </a:endParaRPr>
          </a:p>
        </p:txBody>
      </p:sp>
      <p:sp>
        <p:nvSpPr>
          <p:cNvPr id="46" name="Google Shape;46;p1"/>
          <p:cNvSpPr txBox="1"/>
          <p:nvPr/>
        </p:nvSpPr>
        <p:spPr>
          <a:xfrm>
            <a:off x="14244" y="1263042"/>
            <a:ext cx="11935565" cy="716991"/>
          </a:xfrm>
          <a:prstGeom prst="rect">
            <a:avLst/>
          </a:prstGeom>
          <a:noFill/>
          <a:ln>
            <a:noFill/>
          </a:ln>
        </p:spPr>
        <p:txBody>
          <a:bodyPr anchorCtr="0" anchor="t" bIns="45700" lIns="45700" spcFirstLastPara="1" rIns="45700" wrap="square" tIns="45700">
            <a:spAutoFit/>
          </a:bodyPr>
          <a:lstStyle/>
          <a:p>
            <a:pPr indent="0" lvl="1" marL="457200" marR="0" rtl="0" algn="l">
              <a:lnSpc>
                <a:spcPct val="200000"/>
              </a:lnSpc>
              <a:spcBef>
                <a:spcPts val="0"/>
              </a:spcBef>
              <a:spcAft>
                <a:spcPts val="0"/>
              </a:spcAft>
              <a:buClr>
                <a:srgbClr val="1F4E79"/>
              </a:buClr>
              <a:buSzPts val="1800"/>
              <a:buFont typeface="Trebuchet MS"/>
              <a:buNone/>
            </a:pPr>
            <a:r>
              <a:t/>
            </a:r>
            <a:endParaRPr b="0" i="0" sz="1800" u="none" cap="none" strike="noStrike">
              <a:solidFill>
                <a:srgbClr val="000000"/>
              </a:solidFill>
              <a:latin typeface="Calibri"/>
              <a:ea typeface="Calibri"/>
              <a:cs typeface="Calibri"/>
              <a:sym typeface="Calibri"/>
            </a:endParaRPr>
          </a:p>
        </p:txBody>
      </p:sp>
      <p:cxnSp>
        <p:nvCxnSpPr>
          <p:cNvPr id="47" name="Google Shape;47;p1"/>
          <p:cNvCxnSpPr/>
          <p:nvPr/>
        </p:nvCxnSpPr>
        <p:spPr>
          <a:xfrm rot="10800000">
            <a:off x="191386" y="3168502"/>
            <a:ext cx="11758422" cy="53162"/>
          </a:xfrm>
          <a:prstGeom prst="straightConnector1">
            <a:avLst/>
          </a:prstGeom>
          <a:noFill/>
          <a:ln cap="rnd" cmpd="sng" w="69850">
            <a:solidFill>
              <a:srgbClr val="8ED656"/>
            </a:solidFill>
            <a:prstDash val="solid"/>
            <a:miter lim="8000"/>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2"/>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3" name="Google Shape;53;p2"/>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Introduction to ABAP Dictionary </a:t>
            </a:r>
            <a:endParaRPr/>
          </a:p>
          <a:p>
            <a:pPr indent="0" lvl="0" marL="0" marR="0" rtl="0" algn="l">
              <a:lnSpc>
                <a:spcPct val="90000"/>
              </a:lnSpc>
              <a:spcBef>
                <a:spcPts val="0"/>
              </a:spcBef>
              <a:spcAft>
                <a:spcPts val="0"/>
              </a:spcAft>
              <a:buClr>
                <a:srgbClr val="0E5AEE"/>
              </a:buClr>
              <a:buSzPts val="3200"/>
              <a:buFont typeface="Trebuchet MS"/>
              <a:buNone/>
            </a:pPr>
            <a:r>
              <a:t/>
            </a:r>
            <a:endParaRPr b="1" i="0" sz="3200" u="none" cap="none" strike="noStrike">
              <a:solidFill>
                <a:srgbClr val="0E5AEE"/>
              </a:solidFill>
              <a:latin typeface="Calibri"/>
              <a:ea typeface="Calibri"/>
              <a:cs typeface="Calibri"/>
              <a:sym typeface="Calibri"/>
            </a:endParaRPr>
          </a:p>
        </p:txBody>
      </p:sp>
      <p:cxnSp>
        <p:nvCxnSpPr>
          <p:cNvPr id="54" name="Google Shape;54;p2"/>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5" name="Google Shape;55;p2"/>
          <p:cNvSpPr txBox="1"/>
          <p:nvPr/>
        </p:nvSpPr>
        <p:spPr>
          <a:xfrm>
            <a:off x="14244" y="1263042"/>
            <a:ext cx="11935565" cy="1466235"/>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ABAP Dictionary is also called as Data Dictionary or DDIC.</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transaction code for data dictionary is SE11.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3"/>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1" name="Google Shape;61;p3"/>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ABAP Dictionary Objects</a:t>
            </a:r>
            <a:endParaRPr/>
          </a:p>
        </p:txBody>
      </p:sp>
      <p:cxnSp>
        <p:nvCxnSpPr>
          <p:cNvPr id="62" name="Google Shape;62;p3"/>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3" name="Google Shape;63;p3"/>
          <p:cNvSpPr txBox="1"/>
          <p:nvPr/>
        </p:nvSpPr>
        <p:spPr>
          <a:xfrm>
            <a:off x="14244" y="1263042"/>
            <a:ext cx="11935565" cy="5148974"/>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Database table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View</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Data type - Data Element , Structure, Table type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Type Group</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Domain</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Search Help</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Lock Object</a:t>
            </a:r>
            <a:endParaRPr b="0" i="0" sz="2400" u="none" cap="none" strike="noStrike">
              <a:solidFill>
                <a:srgbClr val="3B3838"/>
              </a:solidFill>
              <a:latin typeface="Calibri"/>
              <a:ea typeface="Calibri"/>
              <a:cs typeface="Calibri"/>
              <a:sym typeface="Calibri"/>
            </a:endParaRPr>
          </a:p>
        </p:txBody>
      </p:sp>
      <p:pic>
        <p:nvPicPr>
          <p:cNvPr id="64" name="Google Shape;64;p3"/>
          <p:cNvPicPr preferRelativeResize="0"/>
          <p:nvPr/>
        </p:nvPicPr>
        <p:blipFill rotWithShape="1">
          <a:blip r:embed="rId3">
            <a:alphaModFix/>
          </a:blip>
          <a:srcRect b="0" l="0" r="0" t="0"/>
          <a:stretch/>
        </p:blipFill>
        <p:spPr>
          <a:xfrm>
            <a:off x="7411336" y="1854155"/>
            <a:ext cx="4152900" cy="3943350"/>
          </a:xfrm>
          <a:prstGeom prst="rect">
            <a:avLst/>
          </a:prstGeom>
          <a:noFill/>
          <a:ln cap="flat" cmpd="sng" w="9525">
            <a:solidFill>
              <a:srgbClr val="00B0F0"/>
            </a:solidFill>
            <a:prstDash val="solid"/>
            <a:round/>
            <a:headEnd len="sm" w="sm" type="none"/>
            <a:tailEnd len="sm" w="sm" type="none"/>
          </a:ln>
        </p:spPr>
      </p:pic>
      <p:sp>
        <p:nvSpPr>
          <p:cNvPr id="65" name="Google Shape;65;p3"/>
          <p:cNvSpPr txBox="1"/>
          <p:nvPr/>
        </p:nvSpPr>
        <p:spPr>
          <a:xfrm flipH="1">
            <a:off x="7495952" y="1263042"/>
            <a:ext cx="3147237"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Data Dictionary Objects : SE11</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4"/>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71" name="Google Shape;71;p4"/>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Domain </a:t>
            </a:r>
            <a:endParaRPr/>
          </a:p>
        </p:txBody>
      </p:sp>
      <p:cxnSp>
        <p:nvCxnSpPr>
          <p:cNvPr id="72" name="Google Shape;72;p4"/>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73" name="Google Shape;73;p4"/>
          <p:cNvSpPr txBox="1"/>
          <p:nvPr/>
        </p:nvSpPr>
        <p:spPr>
          <a:xfrm>
            <a:off x="14244" y="1263042"/>
            <a:ext cx="11935565" cy="2943563"/>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Domain describes the technical attributes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of a field/column.</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Technical attributes means data type and length.</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Domains are linked to fields via data elements.</a:t>
            </a:r>
            <a:endParaRPr/>
          </a:p>
        </p:txBody>
      </p:sp>
      <p:pic>
        <p:nvPicPr>
          <p:cNvPr id="74" name="Google Shape;74;p4"/>
          <p:cNvPicPr preferRelativeResize="0"/>
          <p:nvPr/>
        </p:nvPicPr>
        <p:blipFill rotWithShape="1">
          <a:blip r:embed="rId3">
            <a:alphaModFix/>
          </a:blip>
          <a:srcRect b="0" l="0" r="0" t="0"/>
          <a:stretch/>
        </p:blipFill>
        <p:spPr>
          <a:xfrm>
            <a:off x="7340646" y="2082530"/>
            <a:ext cx="4666868" cy="2124075"/>
          </a:xfrm>
          <a:prstGeom prst="rect">
            <a:avLst/>
          </a:prstGeom>
          <a:noFill/>
          <a:ln cap="flat" cmpd="sng" w="9525">
            <a:solidFill>
              <a:srgbClr val="00B0F0"/>
            </a:solidFill>
            <a:prstDash val="solid"/>
            <a:round/>
            <a:headEnd len="sm" w="sm" type="none"/>
            <a:tailEnd len="sm" w="sm" type="none"/>
          </a:ln>
        </p:spPr>
      </p:pic>
      <p:sp>
        <p:nvSpPr>
          <p:cNvPr id="75" name="Google Shape;75;p4"/>
          <p:cNvSpPr txBox="1"/>
          <p:nvPr/>
        </p:nvSpPr>
        <p:spPr>
          <a:xfrm flipH="1">
            <a:off x="7909435" y="1496521"/>
            <a:ext cx="4040374"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Domain Link to Field via Data Element</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5"/>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81" name="Google Shape;81;p5"/>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Data Element </a:t>
            </a:r>
            <a:endParaRPr/>
          </a:p>
        </p:txBody>
      </p:sp>
      <p:cxnSp>
        <p:nvCxnSpPr>
          <p:cNvPr id="82" name="Google Shape;82;p5"/>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83" name="Google Shape;83;p5"/>
          <p:cNvSpPr txBox="1"/>
          <p:nvPr/>
        </p:nvSpPr>
        <p:spPr>
          <a:xfrm>
            <a:off x="14244" y="1263042"/>
            <a:ext cx="11935565" cy="2204899"/>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Data element describes the appearance of a field/column to end user.</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It is used to provide a meaningful description to a field.</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6"/>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89" name="Google Shape;89;p6"/>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Table </a:t>
            </a:r>
            <a:endParaRPr/>
          </a:p>
        </p:txBody>
      </p:sp>
      <p:cxnSp>
        <p:nvCxnSpPr>
          <p:cNvPr id="90" name="Google Shape;90;p6"/>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91" name="Google Shape;91;p6"/>
          <p:cNvSpPr txBox="1"/>
          <p:nvPr/>
        </p:nvSpPr>
        <p:spPr>
          <a:xfrm>
            <a:off x="14244" y="1263042"/>
            <a:ext cx="11935565" cy="2204899"/>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Table is a collection of rows and columns.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Tables are containers which stores data in the form of record.</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Table must have a primary key which is used to identify a record uniquely.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7"/>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97" name="Google Shape;97;p7"/>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Client Dependent and Client Independent tables</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98" name="Google Shape;98;p7"/>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99" name="Google Shape;99;p7"/>
          <p:cNvSpPr txBox="1"/>
          <p:nvPr/>
        </p:nvSpPr>
        <p:spPr>
          <a:xfrm>
            <a:off x="14244" y="1263042"/>
            <a:ext cx="11935565" cy="2204899"/>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Tables having MANDT field are called as client dependent or client specific tables.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Tables without MANDT field are called as client independent tables.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MANDT represents the client number of SAP system.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8"/>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105" name="Google Shape;105;p8"/>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Table Maintenance Generator</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106" name="Google Shape;106;p8"/>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107" name="Google Shape;107;p8"/>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It is also abbreviated as TMG.</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TMG is used to maintain(insert, update ,delete)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data into tables.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We can generate the TMG through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SE11 transaction code.</a:t>
            </a:r>
            <a:endParaRPr/>
          </a:p>
        </p:txBody>
      </p:sp>
      <p:pic>
        <p:nvPicPr>
          <p:cNvPr id="108" name="Google Shape;108;p8"/>
          <p:cNvPicPr preferRelativeResize="0"/>
          <p:nvPr/>
        </p:nvPicPr>
        <p:blipFill rotWithShape="1">
          <a:blip r:embed="rId3">
            <a:alphaModFix/>
          </a:blip>
          <a:srcRect b="0" l="0" r="0" t="0"/>
          <a:stretch/>
        </p:blipFill>
        <p:spPr>
          <a:xfrm>
            <a:off x="6921713" y="1876255"/>
            <a:ext cx="5134422" cy="4347835"/>
          </a:xfrm>
          <a:prstGeom prst="rect">
            <a:avLst/>
          </a:prstGeom>
          <a:noFill/>
          <a:ln cap="flat" cmpd="sng" w="9525">
            <a:solidFill>
              <a:srgbClr val="00B0F0"/>
            </a:solidFill>
            <a:prstDash val="solid"/>
            <a:round/>
            <a:headEnd len="sm" w="sm" type="none"/>
            <a:tailEnd len="sm" w="sm" type="none"/>
          </a:ln>
        </p:spPr>
      </p:pic>
      <p:sp>
        <p:nvSpPr>
          <p:cNvPr id="109" name="Google Shape;109;p8"/>
          <p:cNvSpPr txBox="1"/>
          <p:nvPr/>
        </p:nvSpPr>
        <p:spPr>
          <a:xfrm>
            <a:off x="7474688" y="1306482"/>
            <a:ext cx="3338624"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Table Maintenance Generator</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9"/>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115" name="Google Shape;115;p9"/>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Table Maintenance Generator Environment</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116" name="Google Shape;116;p9"/>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117" name="Google Shape;117;p9"/>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various objects of TMG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environment are as follows:</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Authorization Group</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Function Group</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Maintenance type</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Maintenance Screen No.</a:t>
            </a:r>
            <a:endParaRPr/>
          </a:p>
        </p:txBody>
      </p:sp>
      <p:pic>
        <p:nvPicPr>
          <p:cNvPr id="118" name="Google Shape;118;p9"/>
          <p:cNvPicPr preferRelativeResize="0"/>
          <p:nvPr/>
        </p:nvPicPr>
        <p:blipFill rotWithShape="1">
          <a:blip r:embed="rId3">
            <a:alphaModFix/>
          </a:blip>
          <a:srcRect b="0" l="0" r="0" t="0"/>
          <a:stretch/>
        </p:blipFill>
        <p:spPr>
          <a:xfrm>
            <a:off x="5662033" y="1820994"/>
            <a:ext cx="6287776" cy="4484509"/>
          </a:xfrm>
          <a:prstGeom prst="rect">
            <a:avLst/>
          </a:prstGeom>
          <a:noFill/>
          <a:ln cap="flat" cmpd="sng" w="9525">
            <a:solidFill>
              <a:srgbClr val="00B0F0"/>
            </a:solidFill>
            <a:prstDash val="solid"/>
            <a:round/>
            <a:headEnd len="sm" w="sm" type="none"/>
            <a:tailEnd len="sm" w="sm" type="none"/>
          </a:ln>
        </p:spPr>
      </p:pic>
      <p:sp>
        <p:nvSpPr>
          <p:cNvPr id="119" name="Google Shape;119;p9"/>
          <p:cNvSpPr txBox="1"/>
          <p:nvPr/>
        </p:nvSpPr>
        <p:spPr>
          <a:xfrm>
            <a:off x="6592185" y="1247835"/>
            <a:ext cx="3806456"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TMG Environment</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0"/>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125" name="Google Shape;125;p10"/>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Table Maintenance Generator Environment(Contd.)</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126" name="Google Shape;126;p10"/>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127" name="Google Shape;127;p10"/>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Authorization Group : It is used to specify the users who are authorized to maintain table or view contents. If a table is maintained by a group of people, an authorization group is assigned else fill the option ‘&amp;NC&amp;’.</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Function Group : Here, the name of the function group can be same as that of table/view.</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1"/>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133" name="Google Shape;133;p11"/>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Table Maintenance Generator Environment(Contd.)</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134" name="Google Shape;134;p11"/>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135" name="Google Shape;135;p11"/>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Maintenance type - One step and two step. In case of one step only overview screen is applicable. In case of two step, both overview screen and single screen are applicable. </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Maintenance screen No - Overview screen and single screen. In case of one step, a screen number is assigned only to overview screen. In case of two step, a screen number is assigned to both overview screen and single screen.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2"/>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141" name="Google Shape;141;p12"/>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Important Points for Table Maintenance Generator</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142" name="Google Shape;142;p12"/>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143" name="Google Shape;143;p12"/>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To generate the TMG , data browser/table view maintenance options needs to be -  display/maintenance allowed.</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Whenever we add new columns/fields to the table after generation of TMG, the newly added fields do not appear automatically while maintaining data with the help of SM30.</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We need to delete the TMG and generate it again. </a:t>
            </a:r>
            <a:endParaRPr/>
          </a:p>
          <a:p>
            <a:pPr indent="0" lvl="1" marL="4572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149" name="Google Shape;149;p13"/>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Important Points for Table Maintenance Generator(Contd.)</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150" name="Google Shape;150;p13"/>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151" name="Google Shape;151;p13"/>
          <p:cNvSpPr txBox="1"/>
          <p:nvPr/>
        </p:nvSpPr>
        <p:spPr>
          <a:xfrm>
            <a:off x="14244" y="1263042"/>
            <a:ext cx="11935565" cy="2204899"/>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Deleting the TMG never delete the table data.</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To delete the TMG, open the table in change mode, otherwise delete button does not appear.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4"/>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157" name="Google Shape;157;p14"/>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Types of Data in SAP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158" name="Google Shape;158;p14"/>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159" name="Google Shape;159;p14"/>
          <p:cNvSpPr txBox="1"/>
          <p:nvPr/>
        </p:nvSpPr>
        <p:spPr>
          <a:xfrm>
            <a:off x="14244" y="1263042"/>
            <a:ext cx="11935565" cy="2943563"/>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SAP consists of 3 types of data.</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Master data</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Transaction data</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Configuration data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5"/>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165" name="Google Shape;165;p15"/>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Types of Data in SAP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166" name="Google Shape;166;p15"/>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167" name="Google Shape;167;p15"/>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Master data -  accessed very frequently, but changed very rarely. </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Transactional data - can change very often and are not constant. </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Configuration data - is that data which we can customize. Customizing depends on the business scenario and customer requirements.</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6"/>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173" name="Google Shape;173;p16"/>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Types of Data in SAP - Example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174" name="Google Shape;174;p16"/>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175" name="Google Shape;175;p16"/>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Suppose there is a company ABC. The example of various types of data in the company ABC are as follows:</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Master data - Employee data of the company ABC is the example of master data.</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Transaction data - Various transactions in the company like banking transactions, revenue transactions are the examples of transaction data.</a:t>
            </a:r>
            <a:endParaRPr/>
          </a:p>
          <a:p>
            <a:pPr indent="-304800" lvl="1" marL="914400" marR="0" rtl="0" algn="l">
              <a:lnSpc>
                <a:spcPct val="200000"/>
              </a:lnSpc>
              <a:spcBef>
                <a:spcPts val="0"/>
              </a:spcBef>
              <a:spcAft>
                <a:spcPts val="0"/>
              </a:spcAft>
              <a:buClr>
                <a:srgbClr val="3B3838"/>
              </a:buClr>
              <a:buSzPts val="2400"/>
              <a:buFont typeface="Calibri"/>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7"/>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181" name="Google Shape;181;p17"/>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Types of Data in SAP - Example(Contd.)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182" name="Google Shape;182;p17"/>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183" name="Google Shape;183;p17"/>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AutoNum type="arabicPeriod" startAt="3"/>
            </a:pPr>
            <a:r>
              <a:rPr b="0" i="0" lang="en-US" sz="2400" u="none" cap="none" strike="noStrike">
                <a:solidFill>
                  <a:srgbClr val="3B3838"/>
                </a:solidFill>
                <a:latin typeface="Calibri"/>
                <a:ea typeface="Calibri"/>
                <a:cs typeface="Calibri"/>
                <a:sym typeface="Calibri"/>
              </a:rPr>
              <a:t>Configuration data - In company ABC,  if the employee designation is senior consultant  the vehicle allowance is applicable, if the employee designation is other than senior consultant then the vehicle allowance is not applicable. This is one of the example of configuration data.</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189" name="Google Shape;189;p18"/>
          <p:cNvSpPr txBox="1"/>
          <p:nvPr/>
        </p:nvSpPr>
        <p:spPr>
          <a:xfrm>
            <a:off x="443160" y="357542"/>
            <a:ext cx="10851392" cy="1421928"/>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Data Class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190" name="Google Shape;190;p18"/>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191" name="Google Shape;191;p18"/>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Data Class is the part of technical settings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of a table.</a:t>
            </a:r>
            <a:endParaRPr/>
          </a:p>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Data Class determines in which</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portion of the database the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table data is stored.</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pic>
        <p:nvPicPr>
          <p:cNvPr id="192" name="Google Shape;192;p18"/>
          <p:cNvPicPr preferRelativeResize="0"/>
          <p:nvPr/>
        </p:nvPicPr>
        <p:blipFill rotWithShape="1">
          <a:blip r:embed="rId3">
            <a:alphaModFix/>
          </a:blip>
          <a:srcRect b="0" l="0" r="0" t="0"/>
          <a:stretch/>
        </p:blipFill>
        <p:spPr>
          <a:xfrm>
            <a:off x="6314237" y="1864062"/>
            <a:ext cx="5635572" cy="4421594"/>
          </a:xfrm>
          <a:prstGeom prst="rect">
            <a:avLst/>
          </a:prstGeom>
          <a:noFill/>
          <a:ln cap="flat" cmpd="sng" w="9525">
            <a:solidFill>
              <a:srgbClr val="00B0F0"/>
            </a:solidFill>
            <a:prstDash val="solid"/>
            <a:round/>
            <a:headEnd len="sm" w="sm" type="none"/>
            <a:tailEnd len="sm" w="sm" type="none"/>
          </a:ln>
        </p:spPr>
      </p:pic>
      <p:sp>
        <p:nvSpPr>
          <p:cNvPr id="193" name="Google Shape;193;p18"/>
          <p:cNvSpPr txBox="1"/>
          <p:nvPr/>
        </p:nvSpPr>
        <p:spPr>
          <a:xfrm>
            <a:off x="7421525" y="1343880"/>
            <a:ext cx="3094075"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Technical Settings - Data Class</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9"/>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199" name="Google Shape;199;p19"/>
          <p:cNvSpPr txBox="1"/>
          <p:nvPr/>
        </p:nvSpPr>
        <p:spPr>
          <a:xfrm>
            <a:off x="443160" y="357542"/>
            <a:ext cx="10851392" cy="1421928"/>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Data Class(Contd.)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200" name="Google Shape;200;p19"/>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201" name="Google Shape;201;p19"/>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The widely used data class are</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as follows:</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APPL0 - Master data</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APPL1 - Transaction data</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APPL2 - Configuration data</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
        <p:nvSpPr>
          <p:cNvPr id="202" name="Google Shape;202;p19"/>
          <p:cNvSpPr txBox="1"/>
          <p:nvPr/>
        </p:nvSpPr>
        <p:spPr>
          <a:xfrm>
            <a:off x="7421525" y="1343880"/>
            <a:ext cx="3094075"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Various Data Class</a:t>
            </a:r>
            <a:endParaRPr b="0" i="0" sz="1800" u="none" cap="none" strike="noStrike">
              <a:solidFill>
                <a:srgbClr val="000000"/>
              </a:solidFill>
              <a:latin typeface="Calibri"/>
              <a:ea typeface="Calibri"/>
              <a:cs typeface="Calibri"/>
              <a:sym typeface="Calibri"/>
            </a:endParaRPr>
          </a:p>
        </p:txBody>
      </p:sp>
      <p:pic>
        <p:nvPicPr>
          <p:cNvPr id="203" name="Google Shape;203;p19"/>
          <p:cNvPicPr preferRelativeResize="0"/>
          <p:nvPr/>
        </p:nvPicPr>
        <p:blipFill rotWithShape="1">
          <a:blip r:embed="rId3">
            <a:alphaModFix/>
          </a:blip>
          <a:srcRect b="0" l="0" r="0" t="0"/>
          <a:stretch/>
        </p:blipFill>
        <p:spPr>
          <a:xfrm>
            <a:off x="6052283" y="1860308"/>
            <a:ext cx="5897526" cy="4357957"/>
          </a:xfrm>
          <a:prstGeom prst="rect">
            <a:avLst/>
          </a:prstGeom>
          <a:noFill/>
          <a:ln cap="flat" cmpd="sng" w="9525">
            <a:solidFill>
              <a:srgbClr val="00B0F0"/>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0"/>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209" name="Google Shape;209;p20"/>
          <p:cNvSpPr txBox="1"/>
          <p:nvPr/>
        </p:nvSpPr>
        <p:spPr>
          <a:xfrm>
            <a:off x="443160" y="357542"/>
            <a:ext cx="10851392" cy="1421928"/>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Size Category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210" name="Google Shape;210;p20"/>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211" name="Google Shape;211;p20"/>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Size category is also the part of</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technical Settings of a table.</a:t>
            </a:r>
            <a:endParaRPr/>
          </a:p>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The Size category describes the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space requirement of the table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in the database. </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
        <p:nvSpPr>
          <p:cNvPr id="212" name="Google Shape;212;p20"/>
          <p:cNvSpPr txBox="1"/>
          <p:nvPr/>
        </p:nvSpPr>
        <p:spPr>
          <a:xfrm>
            <a:off x="6985591" y="1343880"/>
            <a:ext cx="3530009"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Technical Settings -  Size Category</a:t>
            </a:r>
            <a:endParaRPr b="0" i="0" sz="1800" u="none" cap="none" strike="noStrike">
              <a:solidFill>
                <a:srgbClr val="000000"/>
              </a:solidFill>
              <a:latin typeface="Calibri"/>
              <a:ea typeface="Calibri"/>
              <a:cs typeface="Calibri"/>
              <a:sym typeface="Calibri"/>
            </a:endParaRPr>
          </a:p>
        </p:txBody>
      </p:sp>
      <p:pic>
        <p:nvPicPr>
          <p:cNvPr id="213" name="Google Shape;213;p20"/>
          <p:cNvPicPr preferRelativeResize="0"/>
          <p:nvPr/>
        </p:nvPicPr>
        <p:blipFill rotWithShape="1">
          <a:blip r:embed="rId3">
            <a:alphaModFix/>
          </a:blip>
          <a:srcRect b="0" l="0" r="0" t="0"/>
          <a:stretch/>
        </p:blipFill>
        <p:spPr>
          <a:xfrm>
            <a:off x="6095999" y="1873928"/>
            <a:ext cx="5635572" cy="4421594"/>
          </a:xfrm>
          <a:prstGeom prst="rect">
            <a:avLst/>
          </a:prstGeom>
          <a:noFill/>
          <a:ln cap="flat" cmpd="sng" w="9525">
            <a:solidFill>
              <a:srgbClr val="00B0F0"/>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219" name="Google Shape;219;p21"/>
          <p:cNvSpPr txBox="1"/>
          <p:nvPr/>
        </p:nvSpPr>
        <p:spPr>
          <a:xfrm>
            <a:off x="443160" y="357542"/>
            <a:ext cx="10851392" cy="1421928"/>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Delivery Class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220" name="Google Shape;220;p21"/>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221" name="Google Shape;221;p21"/>
          <p:cNvSpPr txBox="1"/>
          <p:nvPr/>
        </p:nvSpPr>
        <p:spPr>
          <a:xfrm>
            <a:off x="14244" y="1263042"/>
            <a:ext cx="11935565" cy="2943563"/>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It is the part of delivery and maintenance tab of the table.</a:t>
            </a:r>
            <a:endParaRPr/>
          </a:p>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It is used for controlling data transport of tables during installation, upgrade and transporting between customer systems. </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2"/>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227" name="Google Shape;227;p22"/>
          <p:cNvSpPr txBox="1"/>
          <p:nvPr/>
        </p:nvSpPr>
        <p:spPr>
          <a:xfrm>
            <a:off x="443160" y="357542"/>
            <a:ext cx="10851392" cy="1421928"/>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Delivery Class(Contd.)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228" name="Google Shape;228;p22"/>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229" name="Google Shape;229;p22"/>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The widely used delivery class are as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follows:</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     A - Application table</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     C -  Customizing table</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     L -  Table for storing temporary data</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pic>
        <p:nvPicPr>
          <p:cNvPr id="230" name="Google Shape;230;p22"/>
          <p:cNvPicPr preferRelativeResize="0"/>
          <p:nvPr/>
        </p:nvPicPr>
        <p:blipFill rotWithShape="1">
          <a:blip r:embed="rId3">
            <a:alphaModFix/>
          </a:blip>
          <a:srcRect b="0" l="0" r="0" t="0"/>
          <a:stretch/>
        </p:blipFill>
        <p:spPr>
          <a:xfrm>
            <a:off x="7024877" y="1860308"/>
            <a:ext cx="4797703" cy="3351277"/>
          </a:xfrm>
          <a:prstGeom prst="rect">
            <a:avLst/>
          </a:prstGeom>
          <a:noFill/>
          <a:ln cap="flat" cmpd="sng" w="9525">
            <a:solidFill>
              <a:srgbClr val="00B0F0"/>
            </a:solidFill>
            <a:prstDash val="solid"/>
            <a:round/>
            <a:headEnd len="sm" w="sm" type="none"/>
            <a:tailEnd len="sm" w="sm" type="none"/>
          </a:ln>
        </p:spPr>
      </p:pic>
      <p:sp>
        <p:nvSpPr>
          <p:cNvPr id="231" name="Google Shape;231;p22"/>
          <p:cNvSpPr txBox="1"/>
          <p:nvPr/>
        </p:nvSpPr>
        <p:spPr>
          <a:xfrm>
            <a:off x="7099209" y="1343880"/>
            <a:ext cx="4047462"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Delivery Class</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237" name="Google Shape;237;p23"/>
          <p:cNvSpPr txBox="1"/>
          <p:nvPr/>
        </p:nvSpPr>
        <p:spPr>
          <a:xfrm>
            <a:off x="443160" y="357542"/>
            <a:ext cx="10851392" cy="1421928"/>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Data Browser/Table View Maintenance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238" name="Google Shape;238;p23"/>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239" name="Google Shape;239;p23"/>
          <p:cNvSpPr txBox="1"/>
          <p:nvPr/>
        </p:nvSpPr>
        <p:spPr>
          <a:xfrm>
            <a:off x="14244" y="1263042"/>
            <a:ext cx="11935565" cy="2943563"/>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It is the part of delivery and maintenance tab of the table.</a:t>
            </a:r>
            <a:endParaRPr/>
          </a:p>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Data browser/table view maintenance specifies whether it is possible to display/maintain a table. </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4"/>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245" name="Google Shape;245;p24"/>
          <p:cNvSpPr txBox="1"/>
          <p:nvPr/>
        </p:nvSpPr>
        <p:spPr>
          <a:xfrm>
            <a:off x="443160" y="357542"/>
            <a:ext cx="10851392" cy="1421928"/>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Data Browser/Table View Maintenance Options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246" name="Google Shape;246;p24"/>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247" name="Google Shape;247;p24"/>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The various data browser/table view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maintenance options are as follows </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Display/Maintenance allowed</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Display/Maintenance not allowed</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Display/Maintenance allowed with restrictions</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pic>
        <p:nvPicPr>
          <p:cNvPr id="248" name="Google Shape;248;p24"/>
          <p:cNvPicPr preferRelativeResize="0"/>
          <p:nvPr/>
        </p:nvPicPr>
        <p:blipFill rotWithShape="1">
          <a:blip r:embed="rId3">
            <a:alphaModFix/>
          </a:blip>
          <a:srcRect b="0" l="0" r="0" t="0"/>
          <a:stretch/>
        </p:blipFill>
        <p:spPr>
          <a:xfrm>
            <a:off x="6961567" y="1648799"/>
            <a:ext cx="4596999" cy="4658157"/>
          </a:xfrm>
          <a:prstGeom prst="rect">
            <a:avLst/>
          </a:prstGeom>
          <a:noFill/>
          <a:ln cap="flat" cmpd="sng" w="9525">
            <a:solidFill>
              <a:srgbClr val="00B0F0"/>
            </a:solidFill>
            <a:prstDash val="solid"/>
            <a:round/>
            <a:headEnd len="sm" w="sm" type="none"/>
            <a:tailEnd len="sm" w="sm" type="none"/>
          </a:ln>
        </p:spPr>
      </p:pic>
      <p:sp>
        <p:nvSpPr>
          <p:cNvPr id="249" name="Google Shape;249;p24"/>
          <p:cNvSpPr txBox="1"/>
          <p:nvPr/>
        </p:nvSpPr>
        <p:spPr>
          <a:xfrm>
            <a:off x="7357730" y="1182389"/>
            <a:ext cx="4200836"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Data Browser/ Table View Maint. Options</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5"/>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255" name="Google Shape;255;p25"/>
          <p:cNvSpPr txBox="1"/>
          <p:nvPr/>
        </p:nvSpPr>
        <p:spPr>
          <a:xfrm>
            <a:off x="443160" y="357542"/>
            <a:ext cx="10851392" cy="1421928"/>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Data Browser/Table View Maintenance Options (Contd.)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256" name="Google Shape;256;p25"/>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257" name="Google Shape;257;p25"/>
          <p:cNvSpPr txBox="1"/>
          <p:nvPr/>
        </p:nvSpPr>
        <p:spPr>
          <a:xfrm>
            <a:off x="14244" y="1263042"/>
            <a:ext cx="11935565" cy="727571"/>
          </a:xfrm>
          <a:prstGeom prst="rect">
            <a:avLst/>
          </a:prstGeom>
          <a:noFill/>
          <a:ln>
            <a:noFill/>
          </a:ln>
        </p:spPr>
        <p:txBody>
          <a:bodyPr anchorCtr="0" anchor="t" bIns="45700" lIns="45700" spcFirstLastPara="1" rIns="45700" wrap="square" tIns="45700">
            <a:spAutoFit/>
          </a:bodyPr>
          <a:lstStyle/>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pic>
        <p:nvPicPr>
          <p:cNvPr id="258" name="Google Shape;258;p25"/>
          <p:cNvPicPr preferRelativeResize="0"/>
          <p:nvPr/>
        </p:nvPicPr>
        <p:blipFill rotWithShape="1">
          <a:blip r:embed="rId3">
            <a:alphaModFix/>
          </a:blip>
          <a:srcRect b="0" l="0" r="0" t="0"/>
          <a:stretch/>
        </p:blipFill>
        <p:spPr>
          <a:xfrm>
            <a:off x="581314" y="1779470"/>
            <a:ext cx="11029370" cy="2324395"/>
          </a:xfrm>
          <a:prstGeom prst="rect">
            <a:avLst/>
          </a:prstGeom>
          <a:noFill/>
          <a:ln>
            <a:noFill/>
          </a:ln>
        </p:spPr>
      </p:pic>
      <p:sp>
        <p:nvSpPr>
          <p:cNvPr id="259" name="Google Shape;259;p25"/>
          <p:cNvSpPr txBox="1"/>
          <p:nvPr/>
        </p:nvSpPr>
        <p:spPr>
          <a:xfrm>
            <a:off x="2890282" y="4435628"/>
            <a:ext cx="6411433"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Summary of Data Browser/ Table View Maintenance Options</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6"/>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265" name="Google Shape;265;p26"/>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Primary-Foreign Key Relationship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266" name="Google Shape;266;p26"/>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267" name="Google Shape;267;p26"/>
          <p:cNvSpPr txBox="1"/>
          <p:nvPr/>
        </p:nvSpPr>
        <p:spPr>
          <a:xfrm>
            <a:off x="14244" y="1263042"/>
            <a:ext cx="11935565" cy="5898218"/>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Primary-Foreign key relationship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is also called as parent-child relationship.</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Primary key of one table acts as a</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foreign key into another table.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For primary-foreign key relationship tables</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must have a common field/column.</a:t>
            </a:r>
            <a:endParaRPr/>
          </a:p>
          <a:p>
            <a:pPr indent="0" lvl="1" marL="4572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a:p>
            <a:pPr indent="0" lvl="1" marL="4572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pic>
        <p:nvPicPr>
          <p:cNvPr id="268" name="Google Shape;268;p26"/>
          <p:cNvPicPr preferRelativeResize="0"/>
          <p:nvPr/>
        </p:nvPicPr>
        <p:blipFill rotWithShape="1">
          <a:blip r:embed="rId3">
            <a:alphaModFix/>
          </a:blip>
          <a:srcRect b="0" l="0" r="0" t="0"/>
          <a:stretch/>
        </p:blipFill>
        <p:spPr>
          <a:xfrm>
            <a:off x="6617278" y="1829503"/>
            <a:ext cx="5205302" cy="4379395"/>
          </a:xfrm>
          <a:prstGeom prst="rect">
            <a:avLst/>
          </a:prstGeom>
          <a:noFill/>
          <a:ln cap="flat" cmpd="sng" w="9525">
            <a:solidFill>
              <a:srgbClr val="00B0F0"/>
            </a:solidFill>
            <a:prstDash val="solid"/>
            <a:round/>
            <a:headEnd len="sm" w="sm" type="none"/>
            <a:tailEnd len="sm" w="sm" type="none"/>
          </a:ln>
        </p:spPr>
      </p:pic>
      <p:sp>
        <p:nvSpPr>
          <p:cNvPr id="269" name="Google Shape;269;p26"/>
          <p:cNvSpPr txBox="1"/>
          <p:nvPr/>
        </p:nvSpPr>
        <p:spPr>
          <a:xfrm>
            <a:off x="7134445" y="1259693"/>
            <a:ext cx="4012226"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Foreign Keys button in SE11</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7"/>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275" name="Google Shape;275;p27"/>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Primary-Foreign Key Relationship(Contd.)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276" name="Google Shape;276;p27"/>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277" name="Google Shape;277;p27"/>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purpose of primary-foreign key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relationship is to achieve the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data consistency.</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While maintaining the primary-foreign </a:t>
            </a:r>
            <a:br>
              <a:rPr b="0" i="0" lang="en-US" sz="2400" u="none" cap="none" strike="noStrike">
                <a:solidFill>
                  <a:srgbClr val="3B3838"/>
                </a:solidFill>
                <a:latin typeface="Calibri"/>
                <a:ea typeface="Calibri"/>
                <a:cs typeface="Calibri"/>
                <a:sym typeface="Calibri"/>
              </a:rPr>
            </a:br>
            <a:r>
              <a:rPr b="0" i="0" lang="en-US" sz="2400" u="none" cap="none" strike="noStrike">
                <a:solidFill>
                  <a:srgbClr val="3B3838"/>
                </a:solidFill>
                <a:latin typeface="Calibri"/>
                <a:ea typeface="Calibri"/>
                <a:cs typeface="Calibri"/>
                <a:sym typeface="Calibri"/>
              </a:rPr>
              <a:t>key relationship, we need to pass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the cardinality.</a:t>
            </a:r>
            <a:endParaRPr/>
          </a:p>
        </p:txBody>
      </p:sp>
      <p:pic>
        <p:nvPicPr>
          <p:cNvPr id="278" name="Google Shape;278;p27"/>
          <p:cNvPicPr preferRelativeResize="0"/>
          <p:nvPr/>
        </p:nvPicPr>
        <p:blipFill rotWithShape="1">
          <a:blip r:embed="rId3">
            <a:alphaModFix/>
          </a:blip>
          <a:srcRect b="0" l="0" r="0" t="0"/>
          <a:stretch/>
        </p:blipFill>
        <p:spPr>
          <a:xfrm>
            <a:off x="6705686" y="1726957"/>
            <a:ext cx="5244123" cy="4962254"/>
          </a:xfrm>
          <a:prstGeom prst="rect">
            <a:avLst/>
          </a:prstGeom>
          <a:noFill/>
          <a:ln cap="flat" cmpd="sng" w="9525">
            <a:solidFill>
              <a:srgbClr val="00B0F0"/>
            </a:solidFill>
            <a:prstDash val="solid"/>
            <a:round/>
            <a:headEnd len="sm" w="sm" type="none"/>
            <a:tailEnd len="sm" w="sm" type="none"/>
          </a:ln>
        </p:spPr>
      </p:pic>
      <p:sp>
        <p:nvSpPr>
          <p:cNvPr id="279" name="Google Shape;279;p27"/>
          <p:cNvSpPr txBox="1"/>
          <p:nvPr/>
        </p:nvSpPr>
        <p:spPr>
          <a:xfrm>
            <a:off x="7017487" y="1209510"/>
            <a:ext cx="4642335"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Assigning Primary-Foreign Key Relationship</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8"/>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285" name="Google Shape;285;p28"/>
          <p:cNvSpPr txBox="1"/>
          <p:nvPr/>
        </p:nvSpPr>
        <p:spPr>
          <a:xfrm>
            <a:off x="443160" y="357542"/>
            <a:ext cx="10851392" cy="978729"/>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Primary-Foreign Key Relationship(Contd.)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286" name="Google Shape;286;p28"/>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287" name="Google Shape;287;p28"/>
          <p:cNvSpPr txBox="1"/>
          <p:nvPr/>
        </p:nvSpPr>
        <p:spPr>
          <a:xfrm>
            <a:off x="14244" y="1263042"/>
            <a:ext cx="11935565" cy="1466235"/>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Number of records in one table corresponds to number of records in second table for a particular entry is called as cardinality.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293" name="Google Shape;293;p29"/>
          <p:cNvSpPr txBox="1"/>
          <p:nvPr/>
        </p:nvSpPr>
        <p:spPr>
          <a:xfrm>
            <a:off x="443160" y="357542"/>
            <a:ext cx="10851392" cy="1421928"/>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Types of Database Tables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294" name="Google Shape;294;p29"/>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295" name="Google Shape;295;p29"/>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There are 3 types of database tables.</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Transparent table</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Pooled table</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Cluster table</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pic>
        <p:nvPicPr>
          <p:cNvPr id="296" name="Google Shape;296;p29"/>
          <p:cNvPicPr preferRelativeResize="0"/>
          <p:nvPr/>
        </p:nvPicPr>
        <p:blipFill rotWithShape="1">
          <a:blip r:embed="rId3">
            <a:alphaModFix/>
          </a:blip>
          <a:srcRect b="0" l="0" r="0" t="0"/>
          <a:stretch/>
        </p:blipFill>
        <p:spPr>
          <a:xfrm>
            <a:off x="6273334" y="1959014"/>
            <a:ext cx="5439502" cy="3371850"/>
          </a:xfrm>
          <a:prstGeom prst="rect">
            <a:avLst/>
          </a:prstGeom>
          <a:noFill/>
          <a:ln>
            <a:noFill/>
          </a:ln>
        </p:spPr>
      </p:pic>
      <p:sp>
        <p:nvSpPr>
          <p:cNvPr id="297" name="Google Shape;297;p29"/>
          <p:cNvSpPr txBox="1"/>
          <p:nvPr/>
        </p:nvSpPr>
        <p:spPr>
          <a:xfrm>
            <a:off x="8304028" y="1426363"/>
            <a:ext cx="2990524"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Types of Database Tables</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0"/>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303" name="Google Shape;303;p30"/>
          <p:cNvSpPr txBox="1"/>
          <p:nvPr/>
        </p:nvSpPr>
        <p:spPr>
          <a:xfrm>
            <a:off x="443160" y="357542"/>
            <a:ext cx="10851392" cy="1421928"/>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Transparent Table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304" name="Google Shape;304;p30"/>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305" name="Google Shape;305;p30"/>
          <p:cNvSpPr txBox="1"/>
          <p:nvPr/>
        </p:nvSpPr>
        <p:spPr>
          <a:xfrm>
            <a:off x="14244" y="1263042"/>
            <a:ext cx="11935565" cy="2204899"/>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In case of transparent table, there is 1:1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relationship between the ABAP dictionary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and the database</a:t>
            </a:r>
            <a:endParaRPr/>
          </a:p>
        </p:txBody>
      </p:sp>
      <p:pic>
        <p:nvPicPr>
          <p:cNvPr id="306" name="Google Shape;306;p30"/>
          <p:cNvPicPr preferRelativeResize="0"/>
          <p:nvPr/>
        </p:nvPicPr>
        <p:blipFill rotWithShape="1">
          <a:blip r:embed="rId3">
            <a:alphaModFix/>
          </a:blip>
          <a:srcRect b="0" l="0" r="0" t="0"/>
          <a:stretch/>
        </p:blipFill>
        <p:spPr>
          <a:xfrm>
            <a:off x="7752908" y="1505826"/>
            <a:ext cx="2795591" cy="357270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1"/>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312" name="Google Shape;312;p31"/>
          <p:cNvSpPr txBox="1"/>
          <p:nvPr/>
        </p:nvSpPr>
        <p:spPr>
          <a:xfrm>
            <a:off x="443160" y="357542"/>
            <a:ext cx="10851392" cy="1421928"/>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Pooled Table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313" name="Google Shape;313;p31"/>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314" name="Google Shape;314;p31"/>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In case of pooled table, there is N:1(many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to one) relationship between the ABAP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dictionary and the database.</a:t>
            </a:r>
            <a:endParaRPr/>
          </a:p>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For pooled tables, primary-foreign key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relationship is not required.</a:t>
            </a:r>
            <a:endParaRPr/>
          </a:p>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Table pool structure - Tabname Varkey Dataln Vardata</a:t>
            </a:r>
            <a:endParaRPr/>
          </a:p>
        </p:txBody>
      </p:sp>
      <p:pic>
        <p:nvPicPr>
          <p:cNvPr id="315" name="Google Shape;315;p31"/>
          <p:cNvPicPr preferRelativeResize="0"/>
          <p:nvPr/>
        </p:nvPicPr>
        <p:blipFill rotWithShape="1">
          <a:blip r:embed="rId3">
            <a:alphaModFix/>
          </a:blip>
          <a:srcRect b="0" l="0" r="0" t="0"/>
          <a:stretch/>
        </p:blipFill>
        <p:spPr>
          <a:xfrm>
            <a:off x="6740377" y="1263049"/>
            <a:ext cx="5209422" cy="3476625"/>
          </a:xfrm>
          <a:prstGeom prst="rect">
            <a:avLst/>
          </a:prstGeom>
          <a:noFill/>
          <a:ln cap="flat" cmpd="sng" w="9525">
            <a:solidFill>
              <a:srgbClr val="00B0F0"/>
            </a:solidFill>
            <a:prstDash val="solid"/>
            <a:round/>
            <a:headEnd len="sm" w="sm" type="none"/>
            <a:tailEnd len="sm" w="sm" type="none"/>
          </a:ln>
        </p:spPr>
      </p:pic>
      <p:sp>
        <p:nvSpPr>
          <p:cNvPr id="316" name="Google Shape;316;p31"/>
          <p:cNvSpPr txBox="1"/>
          <p:nvPr/>
        </p:nvSpPr>
        <p:spPr>
          <a:xfrm flipH="1">
            <a:off x="7535187" y="1403068"/>
            <a:ext cx="3033576"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Pooled Table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2"/>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322" name="Google Shape;322;p32"/>
          <p:cNvSpPr txBox="1"/>
          <p:nvPr/>
        </p:nvSpPr>
        <p:spPr>
          <a:xfrm>
            <a:off x="443160" y="357542"/>
            <a:ext cx="10851392" cy="1421928"/>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Cluster Table</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 </a:t>
            </a:r>
            <a:endParaRPr/>
          </a:p>
        </p:txBody>
      </p:sp>
      <p:cxnSp>
        <p:nvCxnSpPr>
          <p:cNvPr id="323" name="Google Shape;323;p32"/>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324" name="Google Shape;324;p32"/>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In case of cluster table, there is N:1(many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to one) relationship between the ABAP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dictionary and the database.</a:t>
            </a:r>
            <a:endParaRPr/>
          </a:p>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For cluster tables, primary-foreign key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relationship is mandatory.</a:t>
            </a:r>
            <a:endParaRPr/>
          </a:p>
          <a:p>
            <a:pPr indent="-457200" lvl="1" marL="914400" marR="0" rtl="0" algn="l">
              <a:lnSpc>
                <a:spcPct val="200000"/>
              </a:lnSpc>
              <a:spcBef>
                <a:spcPts val="0"/>
              </a:spcBef>
              <a:spcAft>
                <a:spcPts val="0"/>
              </a:spcAft>
              <a:buClr>
                <a:srgbClr val="3B3838"/>
              </a:buClr>
              <a:buSzPts val="2400"/>
              <a:buFont typeface="Arial"/>
              <a:buChar char="•"/>
            </a:pPr>
            <a:r>
              <a:rPr b="0" i="0" lang="en-US" sz="2400" u="none" cap="none" strike="noStrike">
                <a:solidFill>
                  <a:srgbClr val="3B3838"/>
                </a:solidFill>
                <a:latin typeface="Calibri"/>
                <a:ea typeface="Calibri"/>
                <a:cs typeface="Calibri"/>
                <a:sym typeface="Calibri"/>
              </a:rPr>
              <a:t>Table cluster structure - Key Pageno Vardata</a:t>
            </a:r>
            <a:endParaRPr/>
          </a:p>
        </p:txBody>
      </p:sp>
      <p:sp>
        <p:nvSpPr>
          <p:cNvPr id="325" name="Google Shape;325;p32"/>
          <p:cNvSpPr txBox="1"/>
          <p:nvPr/>
        </p:nvSpPr>
        <p:spPr>
          <a:xfrm flipH="1">
            <a:off x="7535187" y="1403068"/>
            <a:ext cx="3033576"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Cluster Table</a:t>
            </a:r>
            <a:endParaRPr/>
          </a:p>
        </p:txBody>
      </p:sp>
      <p:pic>
        <p:nvPicPr>
          <p:cNvPr id="326" name="Google Shape;326;p32"/>
          <p:cNvPicPr preferRelativeResize="0"/>
          <p:nvPr/>
        </p:nvPicPr>
        <p:blipFill rotWithShape="1">
          <a:blip r:embed="rId3">
            <a:alphaModFix/>
          </a:blip>
          <a:srcRect b="0" l="0" r="0" t="0"/>
          <a:stretch/>
        </p:blipFill>
        <p:spPr>
          <a:xfrm>
            <a:off x="7107705" y="2001956"/>
            <a:ext cx="4714875" cy="3076575"/>
          </a:xfrm>
          <a:prstGeom prst="rect">
            <a:avLst/>
          </a:prstGeom>
          <a:noFill/>
          <a:ln cap="flat" cmpd="sng" w="9525">
            <a:solidFill>
              <a:srgbClr val="00B0F0"/>
            </a:solidFill>
            <a:prstDash val="solid"/>
            <a:round/>
            <a:headEnd len="sm" w="sm" type="none"/>
            <a:tailEnd len="sm" w="sm" type="none"/>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3"/>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332" name="Google Shape;332;p33"/>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Structures</a:t>
            </a:r>
            <a:endParaRPr/>
          </a:p>
        </p:txBody>
      </p:sp>
      <p:cxnSp>
        <p:nvCxnSpPr>
          <p:cNvPr id="333" name="Google Shape;333;p33"/>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334" name="Google Shape;334;p33"/>
          <p:cNvSpPr txBox="1"/>
          <p:nvPr/>
        </p:nvSpPr>
        <p:spPr>
          <a:xfrm>
            <a:off x="14244" y="1263042"/>
            <a:ext cx="11935565" cy="2943563"/>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Structure is collection of fields of same data type or different data type.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There are 2 types of structures in SAP</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Include</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Append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4"/>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340" name="Google Shape;340;p34"/>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Include Structure</a:t>
            </a:r>
            <a:endParaRPr/>
          </a:p>
        </p:txBody>
      </p:sp>
      <p:cxnSp>
        <p:nvCxnSpPr>
          <p:cNvPr id="341" name="Google Shape;341;p34"/>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342" name="Google Shape;342;p34"/>
          <p:cNvSpPr txBox="1"/>
          <p:nvPr/>
        </p:nvSpPr>
        <p:spPr>
          <a:xfrm>
            <a:off x="14244" y="1263042"/>
            <a:ext cx="11935565" cy="2943563"/>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It is a reusable structure.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We can insert the include structure at any point.</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It is applicable to customer specific tables(name starting with Z,Y). It is not applicable to SAP specific tables.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5"/>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348" name="Google Shape;348;p35"/>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Append Structure</a:t>
            </a:r>
            <a:endParaRPr/>
          </a:p>
        </p:txBody>
      </p:sp>
      <p:cxnSp>
        <p:nvCxnSpPr>
          <p:cNvPr id="349" name="Google Shape;349;p35"/>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350" name="Google Shape;350;p35"/>
          <p:cNvSpPr txBox="1"/>
          <p:nvPr/>
        </p:nvSpPr>
        <p:spPr>
          <a:xfrm>
            <a:off x="14244" y="1263042"/>
            <a:ext cx="11935565" cy="2204899"/>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It is not a reusable structure.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It always inserts at the last.</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It is applicable to both customer specific tables (name starting with Z,Y) and SAP tables.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6"/>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356" name="Google Shape;356;p36"/>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Views</a:t>
            </a:r>
            <a:endParaRPr/>
          </a:p>
        </p:txBody>
      </p:sp>
      <p:cxnSp>
        <p:nvCxnSpPr>
          <p:cNvPr id="357" name="Google Shape;357;p36"/>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358" name="Google Shape;358;p36"/>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A view is a virtual table.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A view is a logical database.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A view combines the data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distributed in several tables.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difference between table and view is -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table has data whereas view does not have any data.</a:t>
            </a:r>
            <a:endParaRPr/>
          </a:p>
        </p:txBody>
      </p:sp>
      <p:pic>
        <p:nvPicPr>
          <p:cNvPr id="359" name="Google Shape;359;p36"/>
          <p:cNvPicPr preferRelativeResize="0"/>
          <p:nvPr/>
        </p:nvPicPr>
        <p:blipFill rotWithShape="1">
          <a:blip r:embed="rId3">
            <a:alphaModFix/>
          </a:blip>
          <a:srcRect b="0" l="0" r="0" t="0"/>
          <a:stretch/>
        </p:blipFill>
        <p:spPr>
          <a:xfrm>
            <a:off x="6638673" y="1492988"/>
            <a:ext cx="4826357" cy="3276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7"/>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365" name="Google Shape;365;p37"/>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Types of Views</a:t>
            </a:r>
            <a:endParaRPr/>
          </a:p>
        </p:txBody>
      </p:sp>
      <p:cxnSp>
        <p:nvCxnSpPr>
          <p:cNvPr id="366" name="Google Shape;366;p37"/>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367" name="Google Shape;367;p37"/>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There are 4 types of views:</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Database view</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Projection view</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Maintenance view</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Help view</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8"/>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373" name="Google Shape;373;p38"/>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Database View</a:t>
            </a:r>
            <a:endParaRPr/>
          </a:p>
        </p:txBody>
      </p:sp>
      <p:cxnSp>
        <p:nvCxnSpPr>
          <p:cNvPr id="374" name="Google Shape;374;p38"/>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375" name="Google Shape;375;p38"/>
          <p:cNvSpPr txBox="1"/>
          <p:nvPr/>
        </p:nvSpPr>
        <p:spPr>
          <a:xfrm>
            <a:off x="14244" y="1263042"/>
            <a:ext cx="11935565" cy="2204899"/>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Database view is a collection of one or more database tables.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Database view always implements an inner join.</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Pre-requisite : Tables must have a relationship between them.</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9"/>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381" name="Google Shape;381;p39"/>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Projection View</a:t>
            </a:r>
            <a:endParaRPr/>
          </a:p>
        </p:txBody>
      </p:sp>
      <p:cxnSp>
        <p:nvCxnSpPr>
          <p:cNvPr id="382" name="Google Shape;382;p39"/>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383" name="Google Shape;383;p39"/>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Projection view is applicable for single table.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We take only those fields which are required. It means the data that is actually required is exchanged when the database is accessed.</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Projection view is equal to database view, if the database view also contains single table.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0"/>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389" name="Google Shape;389;p40"/>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Maintenance View</a:t>
            </a:r>
            <a:endParaRPr/>
          </a:p>
        </p:txBody>
      </p:sp>
      <p:cxnSp>
        <p:nvCxnSpPr>
          <p:cNvPr id="390" name="Google Shape;390;p40"/>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391" name="Google Shape;391;p40"/>
          <p:cNvSpPr txBox="1"/>
          <p:nvPr/>
        </p:nvSpPr>
        <p:spPr>
          <a:xfrm>
            <a:off x="14244" y="1263042"/>
            <a:ext cx="11935565" cy="2943563"/>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Maintenance view is used to maintain the multiple tables collectively.</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Data is entered by the view and then distributed to the tables.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We need to generate the TMG( table maintenance generator) of the maintenance view.</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We can maintain the data through transaction code SM30.</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41"/>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397" name="Google Shape;397;p41"/>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Maintenance View(Contd.)</a:t>
            </a:r>
            <a:endParaRPr/>
          </a:p>
        </p:txBody>
      </p:sp>
      <p:cxnSp>
        <p:nvCxnSpPr>
          <p:cNvPr id="398" name="Google Shape;398;p41"/>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399" name="Google Shape;399;p41"/>
          <p:cNvSpPr txBox="1"/>
          <p:nvPr/>
        </p:nvSpPr>
        <p:spPr>
          <a:xfrm>
            <a:off x="14244" y="1263042"/>
            <a:ext cx="11935565" cy="2943563"/>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various pre-requisites of maintenance view are as follows:</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Tables must have a relationship between them.</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Take MANDT field in the view.</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Not more than one record should flow to dependent/secondary table.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2"/>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05" name="Google Shape;405;p42"/>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Help View</a:t>
            </a:r>
            <a:endParaRPr/>
          </a:p>
        </p:txBody>
      </p:sp>
      <p:cxnSp>
        <p:nvCxnSpPr>
          <p:cNvPr id="406" name="Google Shape;406;p42"/>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407" name="Google Shape;407;p42"/>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Help view is used in search helps.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 help view contents tab is disabled , but when we use help view in search help, then it display the contents. </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various pre-requisites of help view are as follows:</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Tables must have a relationship between them.</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Not more than one record should flow to dependent/secondary table.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3"/>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13" name="Google Shape;413;p43"/>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Indexes</a:t>
            </a:r>
            <a:endParaRPr/>
          </a:p>
        </p:txBody>
      </p:sp>
      <p:cxnSp>
        <p:nvCxnSpPr>
          <p:cNvPr id="414" name="Google Shape;414;p43"/>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415" name="Google Shape;415;p43"/>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An index can be considered a copy of a database table that has been reduced to certain fields. This copy is always in sorted form.</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Sorting provides faster access to the data records of the table.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Index is created to speed up the selection process from database table which helps to achieve good performance.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Index name is 3 characters long.</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4"/>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21" name="Google Shape;421;p44"/>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Indexes(Contd.)</a:t>
            </a:r>
            <a:endParaRPr/>
          </a:p>
        </p:txBody>
      </p:sp>
      <p:cxnSp>
        <p:nvCxnSpPr>
          <p:cNvPr id="422" name="Google Shape;422;p44"/>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423" name="Google Shape;423;p44"/>
          <p:cNvSpPr txBox="1"/>
          <p:nvPr/>
        </p:nvSpPr>
        <p:spPr>
          <a:xfrm>
            <a:off x="14244" y="1263042"/>
            <a:ext cx="11935565" cy="2943563"/>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Index stores on the database with the name as tablename~Indexname. Example - table name is ZEMP and index name is Z01, then the index name on the database is ZEMP~Z01.</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Disadvantage - Index occupy memory/space on the database.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5"/>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29" name="Google Shape;429;p45"/>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Types of Indexes</a:t>
            </a:r>
            <a:endParaRPr/>
          </a:p>
        </p:txBody>
      </p:sp>
      <p:cxnSp>
        <p:nvCxnSpPr>
          <p:cNvPr id="430" name="Google Shape;430;p45"/>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431" name="Google Shape;431;p45"/>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There are 2 types of Indexes:</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Primary Index - By default, primary key acts as primary index. This index is created automatically on the database.</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Secondary Index  - Secondary indexes are created by user on a table in the ABAP dictionary.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6"/>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37" name="Google Shape;437;p46"/>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Various options in Non-unique Index</a:t>
            </a:r>
            <a:endParaRPr/>
          </a:p>
        </p:txBody>
      </p:sp>
      <p:cxnSp>
        <p:nvCxnSpPr>
          <p:cNvPr id="438" name="Google Shape;438;p46"/>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439" name="Google Shape;439;p46"/>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There are 3 options available in </a:t>
            </a:r>
            <a:br>
              <a:rPr b="0" i="0" lang="en-US" sz="2400" u="none" cap="none" strike="noStrike">
                <a:solidFill>
                  <a:srgbClr val="3B3838"/>
                </a:solidFill>
                <a:latin typeface="Calibri"/>
                <a:ea typeface="Calibri"/>
                <a:cs typeface="Calibri"/>
                <a:sym typeface="Calibri"/>
              </a:rPr>
            </a:br>
            <a:r>
              <a:rPr b="0" i="0" lang="en-US" sz="2400" u="none" cap="none" strike="noStrike">
                <a:solidFill>
                  <a:srgbClr val="3B3838"/>
                </a:solidFill>
                <a:latin typeface="Calibri"/>
                <a:ea typeface="Calibri"/>
                <a:cs typeface="Calibri"/>
                <a:sym typeface="Calibri"/>
              </a:rPr>
              <a:t>non-unique index:</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Index on all database systems</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For selected database systems</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No database index </a:t>
            </a:r>
            <a:endParaRPr/>
          </a:p>
        </p:txBody>
      </p:sp>
      <p:pic>
        <p:nvPicPr>
          <p:cNvPr id="440" name="Google Shape;440;p46"/>
          <p:cNvPicPr preferRelativeResize="0"/>
          <p:nvPr/>
        </p:nvPicPr>
        <p:blipFill rotWithShape="1">
          <a:blip r:embed="rId3">
            <a:alphaModFix/>
          </a:blip>
          <a:srcRect b="0" l="0" r="0" t="0"/>
          <a:stretch/>
        </p:blipFill>
        <p:spPr>
          <a:xfrm>
            <a:off x="5982026" y="1814966"/>
            <a:ext cx="5817994" cy="4139055"/>
          </a:xfrm>
          <a:prstGeom prst="rect">
            <a:avLst/>
          </a:prstGeom>
          <a:noFill/>
          <a:ln cap="flat" cmpd="sng" w="9525">
            <a:solidFill>
              <a:srgbClr val="00B0F0"/>
            </a:solidFill>
            <a:prstDash val="solid"/>
            <a:round/>
            <a:headEnd len="sm" w="sm" type="none"/>
            <a:tailEnd len="sm" w="sm" type="none"/>
          </a:ln>
        </p:spPr>
      </p:pic>
      <p:sp>
        <p:nvSpPr>
          <p:cNvPr id="441" name="Google Shape;441;p46"/>
          <p:cNvSpPr txBox="1"/>
          <p:nvPr/>
        </p:nvSpPr>
        <p:spPr>
          <a:xfrm>
            <a:off x="6173868" y="1292230"/>
            <a:ext cx="4873359"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Various options in Non-unique Index</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7"/>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47" name="Google Shape;447;p47"/>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Various options in Non-unique Index(Contd.)</a:t>
            </a:r>
            <a:endParaRPr/>
          </a:p>
        </p:txBody>
      </p:sp>
      <p:cxnSp>
        <p:nvCxnSpPr>
          <p:cNvPr id="448" name="Google Shape;448;p47"/>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449" name="Google Shape;449;p47"/>
          <p:cNvSpPr txBox="1"/>
          <p:nvPr/>
        </p:nvSpPr>
        <p:spPr>
          <a:xfrm>
            <a:off x="14244" y="1263042"/>
            <a:ext cx="11935565" cy="2204899"/>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Index on all database systems - Index is created on all the database systems.</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For selected database systems - Index is created on selected database systems.</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No database index - Index is removed from the database, but It’s definition still exists.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8"/>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55" name="Google Shape;455;p48"/>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Search Help</a:t>
            </a:r>
            <a:endParaRPr/>
          </a:p>
        </p:txBody>
      </p:sp>
      <p:cxnSp>
        <p:nvCxnSpPr>
          <p:cNvPr id="456" name="Google Shape;456;p48"/>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457" name="Google Shape;457;p48"/>
          <p:cNvSpPr txBox="1"/>
          <p:nvPr/>
        </p:nvSpPr>
        <p:spPr>
          <a:xfrm>
            <a:off x="14244" y="1263042"/>
            <a:ext cx="11935565" cy="1466235"/>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Search help is also called as value help or F4 help.</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It provides the various possible values for any input field/column.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9"/>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63" name="Google Shape;463;p49"/>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Types of Search Help</a:t>
            </a:r>
            <a:endParaRPr/>
          </a:p>
        </p:txBody>
      </p:sp>
      <p:cxnSp>
        <p:nvCxnSpPr>
          <p:cNvPr id="464" name="Google Shape;464;p49"/>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465" name="Google Shape;465;p49"/>
          <p:cNvSpPr txBox="1"/>
          <p:nvPr/>
        </p:nvSpPr>
        <p:spPr>
          <a:xfrm>
            <a:off x="14244" y="1263042"/>
            <a:ext cx="11935565" cy="2204899"/>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There are 2 types of search help:</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Elementary search help - It is a single search help.</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Collective search help - It is a combination of elementary search helps.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0"/>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71" name="Google Shape;471;p50"/>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Various options in Search Help</a:t>
            </a:r>
            <a:endParaRPr/>
          </a:p>
        </p:txBody>
      </p:sp>
      <p:cxnSp>
        <p:nvCxnSpPr>
          <p:cNvPr id="472" name="Google Shape;472;p50"/>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473" name="Google Shape;473;p50"/>
          <p:cNvSpPr txBox="1"/>
          <p:nvPr/>
        </p:nvSpPr>
        <p:spPr>
          <a:xfrm>
            <a:off x="14244" y="1263042"/>
            <a:ext cx="11935565" cy="5159554"/>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various options while creating the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search help are as follows: </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Selection method</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Dialog type</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Search help parameter</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Import</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Export</a:t>
            </a:r>
            <a:endParaRPr/>
          </a:p>
        </p:txBody>
      </p:sp>
      <p:pic>
        <p:nvPicPr>
          <p:cNvPr id="474" name="Google Shape;474;p50"/>
          <p:cNvPicPr preferRelativeResize="0"/>
          <p:nvPr/>
        </p:nvPicPr>
        <p:blipFill rotWithShape="1">
          <a:blip r:embed="rId3">
            <a:alphaModFix/>
          </a:blip>
          <a:srcRect b="0" l="0" r="0" t="0"/>
          <a:stretch/>
        </p:blipFill>
        <p:spPr>
          <a:xfrm>
            <a:off x="6242918" y="1759256"/>
            <a:ext cx="5738037" cy="4620800"/>
          </a:xfrm>
          <a:prstGeom prst="rect">
            <a:avLst/>
          </a:prstGeom>
          <a:noFill/>
          <a:ln cap="flat" cmpd="sng" w="9525">
            <a:solidFill>
              <a:srgbClr val="00B0F0"/>
            </a:solidFill>
            <a:prstDash val="solid"/>
            <a:round/>
            <a:headEnd len="sm" w="sm" type="none"/>
            <a:tailEnd len="sm" w="sm" type="none"/>
          </a:ln>
        </p:spPr>
      </p:pic>
      <p:sp>
        <p:nvSpPr>
          <p:cNvPr id="475" name="Google Shape;475;p50"/>
          <p:cNvSpPr txBox="1"/>
          <p:nvPr/>
        </p:nvSpPr>
        <p:spPr>
          <a:xfrm>
            <a:off x="7219507" y="1226605"/>
            <a:ext cx="3927164"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Various options in Search Help</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51"/>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81" name="Google Shape;481;p51"/>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Various options in Search Help(Contd.)</a:t>
            </a:r>
            <a:endParaRPr/>
          </a:p>
        </p:txBody>
      </p:sp>
      <p:cxnSp>
        <p:nvCxnSpPr>
          <p:cNvPr id="482" name="Google Shape;482;p51"/>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483" name="Google Shape;483;p51"/>
          <p:cNvSpPr txBox="1"/>
          <p:nvPr/>
        </p:nvSpPr>
        <p:spPr>
          <a:xfrm>
            <a:off x="14244" y="1263042"/>
            <a:ext cx="11935565" cy="367164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LPos</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SPos</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SDi’s</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Modified</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Default value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2"/>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89" name="Google Shape;489;p52"/>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Various options in Search Help(Contd.)</a:t>
            </a:r>
            <a:endParaRPr/>
          </a:p>
        </p:txBody>
      </p:sp>
      <p:cxnSp>
        <p:nvCxnSpPr>
          <p:cNvPr id="490" name="Google Shape;490;p52"/>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491" name="Google Shape;491;p52"/>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Selection method - It is the source of hit list. It is name of the table or name of the view.</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Dialog type - It is of 3 types.</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Display values immediately - The hit list appears immediately.</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Dialog with value restriction - Before displaying the hit list, one restriction pop-up appears.  </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3"/>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497" name="Google Shape;497;p53"/>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Various options in Search Help(Contd.)</a:t>
            </a:r>
            <a:endParaRPr/>
          </a:p>
        </p:txBody>
      </p:sp>
      <p:cxnSp>
        <p:nvCxnSpPr>
          <p:cNvPr id="498" name="Google Shape;498;p53"/>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499" name="Google Shape;499;p53"/>
          <p:cNvSpPr txBox="1"/>
          <p:nvPr/>
        </p:nvSpPr>
        <p:spPr>
          <a:xfrm>
            <a:off x="14244" y="1263042"/>
            <a:ext cx="11935565" cy="6626301"/>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AutoNum type="arabicPeriod" startAt="3"/>
            </a:pPr>
            <a:r>
              <a:rPr b="0" i="0" lang="en-US" sz="2400" u="none" cap="none" strike="noStrike">
                <a:solidFill>
                  <a:srgbClr val="3B3838"/>
                </a:solidFill>
                <a:latin typeface="Calibri"/>
                <a:ea typeface="Calibri"/>
                <a:cs typeface="Calibri"/>
                <a:sym typeface="Calibri"/>
              </a:rPr>
              <a:t>Dialog depends on set of values - If the hit list has less than 100 entries, it behaves like display values immediately. If the hit list has more than 100 entries, it behaves like dialog with value restriction.</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Search help parameter - Parameters which we want to include in the search help. They will be used to send and receive values.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Import - Input. </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Export - Output. It is used to export the values from the hit list to the screen fields.</a:t>
            </a:r>
            <a:endParaRPr/>
          </a:p>
          <a:p>
            <a:pPr indent="-304800" lvl="1" marL="914400" marR="0" rtl="0" algn="l">
              <a:lnSpc>
                <a:spcPct val="200000"/>
              </a:lnSpc>
              <a:spcBef>
                <a:spcPts val="0"/>
              </a:spcBef>
              <a:spcAft>
                <a:spcPts val="0"/>
              </a:spcAft>
              <a:buClr>
                <a:srgbClr val="3B3838"/>
              </a:buClr>
              <a:buSzPts val="2400"/>
              <a:buFont typeface="Calibri"/>
              <a:buNone/>
            </a:pPr>
            <a:r>
              <a:t/>
            </a:r>
            <a:endParaRPr b="0" i="0" sz="2400" u="none" cap="none" strike="noStrike">
              <a:solidFill>
                <a:srgbClr val="3B3838"/>
              </a:solidFill>
              <a:latin typeface="Trebuchet MS"/>
              <a:ea typeface="Trebuchet MS"/>
              <a:cs typeface="Trebuchet MS"/>
              <a:sym typeface="Trebuchet MS"/>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Trebuchet MS"/>
              <a:ea typeface="Trebuchet MS"/>
              <a:cs typeface="Trebuchet MS"/>
              <a:sym typeface="Trebuchet M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4"/>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05" name="Google Shape;505;p54"/>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Various options in Search Help(Contd.)</a:t>
            </a:r>
            <a:endParaRPr/>
          </a:p>
        </p:txBody>
      </p:sp>
      <p:cxnSp>
        <p:nvCxnSpPr>
          <p:cNvPr id="506" name="Google Shape;506;p54"/>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07" name="Google Shape;507;p54"/>
          <p:cNvSpPr txBox="1"/>
          <p:nvPr/>
        </p:nvSpPr>
        <p:spPr>
          <a:xfrm>
            <a:off x="14244" y="1263042"/>
            <a:ext cx="11935565" cy="5887637"/>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SPos - Screen position. It is the position of parameters on the dialog box.</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LPos - List position. It is the position of parameters on the hit list.</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SDI’s -  Its purpose is to make search help parameters as display(read) only.</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Modified - The purpose of modified is to change the data element.</a:t>
            </a:r>
            <a:endParaRPr b="0" i="0" sz="2400" u="none" cap="none" strike="noStrike">
              <a:solidFill>
                <a:srgbClr val="3B3838"/>
              </a:solidFill>
              <a:latin typeface="Calibri"/>
              <a:ea typeface="Calibri"/>
              <a:cs typeface="Calibri"/>
              <a:sym typeface="Calibri"/>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Default value - To provide the default value to search help parameter. To provide the default value importing needs to be unticked. </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Trebuchet MS"/>
              <a:ea typeface="Trebuchet MS"/>
              <a:cs typeface="Trebuchet MS"/>
              <a:sym typeface="Trebuchet M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55"/>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13" name="Google Shape;513;p55"/>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Table Buffering</a:t>
            </a:r>
            <a:endParaRPr/>
          </a:p>
        </p:txBody>
      </p:sp>
      <p:cxnSp>
        <p:nvCxnSpPr>
          <p:cNvPr id="514" name="Google Shape;514;p55"/>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15" name="Google Shape;515;p55"/>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Buffer is a temporary storage on the application layer.</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It improves the performance when accessing the data records contained in the table.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Sometimes, we need to access a particular set of records more frequently than others.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Accessing records directly from a database table can be very time-consuming.</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To overcome this drawback, the frequently accessed records of a table can be placed in a buffer from which they can be accessed easily.</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6"/>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21" name="Google Shape;521;p56"/>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Buffering Options</a:t>
            </a:r>
            <a:endParaRPr/>
          </a:p>
        </p:txBody>
      </p:sp>
      <p:cxnSp>
        <p:nvCxnSpPr>
          <p:cNvPr id="522" name="Google Shape;522;p56"/>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23" name="Google Shape;523;p56"/>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Table buffering is the part of technical settings of the table.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various buffering options are as follows:</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Buffering not allowed - Table buffering is not performed for the table.</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Buffering switched on - Table buffering is performed for the table.</a:t>
            </a:r>
            <a:endParaRPr/>
          </a:p>
          <a:p>
            <a:pPr indent="-457200" lvl="1" marL="914400" marR="0" rtl="0" algn="l">
              <a:lnSpc>
                <a:spcPct val="200000"/>
              </a:lnSpc>
              <a:spcBef>
                <a:spcPts val="0"/>
              </a:spcBef>
              <a:spcAft>
                <a:spcPts val="0"/>
              </a:spcAft>
              <a:buClr>
                <a:srgbClr val="3B3838"/>
              </a:buClr>
              <a:buSzPts val="2400"/>
              <a:buFont typeface="Noto Sans Symbols"/>
              <a:buChar char="⮚"/>
            </a:pPr>
            <a:r>
              <a:rPr b="0" i="0" lang="en-US" sz="2400" u="none" cap="none" strike="noStrike">
                <a:solidFill>
                  <a:srgbClr val="3B3838"/>
                </a:solidFill>
                <a:latin typeface="Calibri"/>
                <a:ea typeface="Calibri"/>
                <a:cs typeface="Calibri"/>
                <a:sym typeface="Calibri"/>
              </a:rPr>
              <a:t>Buffering allowed, but switched off - Buffer is allowed but it is switched off and can be switched on anytime according to the requirement of customer.</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7"/>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29" name="Google Shape;529;p57"/>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Types of Table Buffering</a:t>
            </a:r>
            <a:endParaRPr/>
          </a:p>
        </p:txBody>
      </p:sp>
      <p:cxnSp>
        <p:nvCxnSpPr>
          <p:cNvPr id="530" name="Google Shape;530;p57"/>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31" name="Google Shape;531;p57"/>
          <p:cNvSpPr txBox="1"/>
          <p:nvPr/>
        </p:nvSpPr>
        <p:spPr>
          <a:xfrm>
            <a:off x="14244" y="1263042"/>
            <a:ext cx="11935565" cy="2943563"/>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There are 3 types of table buffering:</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Single record buffering</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Full buffering</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Generic area buffering</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58"/>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37" name="Google Shape;537;p58"/>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Single Record Buffering</a:t>
            </a:r>
            <a:endParaRPr/>
          </a:p>
        </p:txBody>
      </p:sp>
      <p:cxnSp>
        <p:nvCxnSpPr>
          <p:cNvPr id="538" name="Google Shape;538;p58"/>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39" name="Google Shape;539;p58"/>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 case of single record buffering single record loads in the buffer at a time.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When to use - Single record buffering should be used for tables where single records are accessed by specifying the complete key. </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Advantage - This type of buffering requires less memory on application layer.</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Disadvantage - There is no significant reduction in number of database access.</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59"/>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45" name="Google Shape;545;p59"/>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Full Record Buffering</a:t>
            </a:r>
            <a:endParaRPr/>
          </a:p>
        </p:txBody>
      </p:sp>
      <p:cxnSp>
        <p:nvCxnSpPr>
          <p:cNvPr id="546" name="Google Shape;546;p59"/>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47" name="Google Shape;547;p59"/>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 case of full buffering full table records load in the buffer.</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When to use - Tables that are best suited to full buffering are frequently accessed and rarely changed. A table which stores transaction data should not be opted for full buffering.</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Advantage - There is significantly reduction in number of database access. </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Disadvantage - This type of buffering requires more memory on application layer.</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0"/>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53" name="Google Shape;553;p60"/>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Generic Area Buffering</a:t>
            </a:r>
            <a:endParaRPr/>
          </a:p>
        </p:txBody>
      </p:sp>
      <p:cxnSp>
        <p:nvCxnSpPr>
          <p:cNvPr id="554" name="Google Shape;554;p60"/>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55" name="Google Shape;555;p60"/>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 case of generic area buffering the records matches the generic key are loaded in the buffer.</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When to use : For generic areas like - language dependent tables.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 case of generic area buffering we need to pass the number of key fields.</a:t>
            </a:r>
            <a:endParaRPr b="0" i="0" sz="2400" u="none" cap="none" strike="noStrike">
              <a:solidFill>
                <a:srgbClr val="3B3838"/>
              </a:solidFill>
              <a:latin typeface="Calibri"/>
              <a:ea typeface="Calibri"/>
              <a:cs typeface="Calibri"/>
              <a:sym typeface="Calibri"/>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number of key field for a generic area buffering is less than the primary keys of the table.</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1"/>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61" name="Google Shape;561;p61"/>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Important Points for Table Buffering</a:t>
            </a:r>
            <a:endParaRPr/>
          </a:p>
        </p:txBody>
      </p:sp>
      <p:cxnSp>
        <p:nvCxnSpPr>
          <p:cNvPr id="562" name="Google Shape;562;p61"/>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63" name="Google Shape;563;p61"/>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Whenever we want to stop the buffering of a table , choose the radio button buffering allowed but switched off rather than buffering not allowed. </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Never use the transaction code /$TAB to reset the buffer of specific tables, as this transaction code reset the buffer of all the tables. Pass the specific table in AL12 transaction code to reset the buffer. ( Edit - Reset Buffer - Table Buffer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62"/>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69" name="Google Shape;569;p62"/>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Transaction Codes for Table Buffering</a:t>
            </a:r>
            <a:endParaRPr/>
          </a:p>
        </p:txBody>
      </p:sp>
      <p:cxnSp>
        <p:nvCxnSpPr>
          <p:cNvPr id="570" name="Google Shape;570;p62"/>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71" name="Google Shape;571;p62"/>
          <p:cNvSpPr txBox="1"/>
          <p:nvPr/>
        </p:nvSpPr>
        <p:spPr>
          <a:xfrm>
            <a:off x="14244" y="1263042"/>
            <a:ext cx="11935565" cy="2204899"/>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Transaction code to check the table buffer :  AL12</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(Monitor-Buffers-Table Buffer)</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transaction code to reset the table buffer : /$TAB</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63"/>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77" name="Google Shape;577;p63"/>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Lock Objects </a:t>
            </a:r>
            <a:endParaRPr/>
          </a:p>
        </p:txBody>
      </p:sp>
      <p:cxnSp>
        <p:nvCxnSpPr>
          <p:cNvPr id="578" name="Google Shape;578;p63"/>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79" name="Google Shape;579;p63"/>
          <p:cNvSpPr txBox="1"/>
          <p:nvPr/>
        </p:nvSpPr>
        <p:spPr>
          <a:xfrm>
            <a:off x="14244" y="1263042"/>
            <a:ext cx="11935565" cy="441864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purpose of lock objects is to achieve synchronization.</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If multiple users want to change the same data at the same time ,then at a time only one user can change the data.</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Lock objects name starts with a prefix ‘E’.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When we want to create customized lock objects, the name must start with EZ or EY.</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transaction code to see the lock entries is SM12.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64"/>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85" name="Google Shape;585;p64"/>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Lock Modes </a:t>
            </a:r>
            <a:endParaRPr/>
          </a:p>
        </p:txBody>
      </p:sp>
      <p:cxnSp>
        <p:nvCxnSpPr>
          <p:cNvPr id="586" name="Google Shape;586;p64"/>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87" name="Google Shape;587;p64"/>
          <p:cNvSpPr txBox="1"/>
          <p:nvPr/>
        </p:nvSpPr>
        <p:spPr>
          <a:xfrm>
            <a:off x="14244" y="1263042"/>
            <a:ext cx="11935565" cy="2943563"/>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There are 3 lock modes:</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Read lock.</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Write lock.</a:t>
            </a:r>
            <a:endParaRPr/>
          </a:p>
          <a:p>
            <a:pPr indent="-457200" lvl="1" marL="914400" marR="0" rtl="0" algn="l">
              <a:lnSpc>
                <a:spcPct val="200000"/>
              </a:lnSpc>
              <a:spcBef>
                <a:spcPts val="0"/>
              </a:spcBef>
              <a:spcAft>
                <a:spcPts val="0"/>
              </a:spcAft>
              <a:buClr>
                <a:srgbClr val="3B3838"/>
              </a:buClr>
              <a:buSzPts val="2400"/>
              <a:buFont typeface="Calibri"/>
              <a:buAutoNum type="arabicPeriod"/>
            </a:pPr>
            <a:r>
              <a:rPr b="0" i="0" lang="en-US" sz="2400" u="none" cap="none" strike="noStrike">
                <a:solidFill>
                  <a:srgbClr val="3B3838"/>
                </a:solidFill>
                <a:latin typeface="Calibri"/>
                <a:ea typeface="Calibri"/>
                <a:cs typeface="Calibri"/>
                <a:sym typeface="Calibri"/>
              </a:rPr>
              <a:t>Enhanced write lock.</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65"/>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593" name="Google Shape;593;p65"/>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Read Lock</a:t>
            </a:r>
            <a:endParaRPr/>
          </a:p>
        </p:txBody>
      </p:sp>
      <p:cxnSp>
        <p:nvCxnSpPr>
          <p:cNvPr id="594" name="Google Shape;594;p65"/>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595" name="Google Shape;595;p65"/>
          <p:cNvSpPr txBox="1"/>
          <p:nvPr/>
        </p:nvSpPr>
        <p:spPr>
          <a:xfrm>
            <a:off x="14244" y="1263042"/>
            <a:ext cx="11935565" cy="2204899"/>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Read lock is also called as shared lock.</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default value of read lock is ‘S’.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 case of read lock, other users can display the data, but they can not change the data.</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6"/>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01" name="Google Shape;601;p66"/>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Write Lock</a:t>
            </a:r>
            <a:endParaRPr/>
          </a:p>
        </p:txBody>
      </p:sp>
      <p:cxnSp>
        <p:nvCxnSpPr>
          <p:cNvPr id="602" name="Google Shape;602;p66"/>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03" name="Google Shape;603;p66"/>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Write lock is also called as exclusive lock.</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default value of write lock is ‘E’.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 case of write lock - other users can not display and change the data.</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Write lock can be requested several times from the same transaction and are processed successively.</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67"/>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09" name="Google Shape;609;p67"/>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Enhanced Write Lock</a:t>
            </a:r>
            <a:endParaRPr/>
          </a:p>
        </p:txBody>
      </p:sp>
      <p:cxnSp>
        <p:nvCxnSpPr>
          <p:cNvPr id="610" name="Google Shape;610;p67"/>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11" name="Google Shape;611;p67"/>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Enhanced Write lock is also called as exclusive lock without cumulation.</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default value of write lock is ‘X’.</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 case of enhanced write lock - other users can not display and change the data. Additionally, it protects the further access of the same transaction.</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Enhanced Write lock can be requested only once from the same transaction and can not be processed successively.</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68"/>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17" name="Google Shape;617;p68"/>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Lock Modes Summary</a:t>
            </a:r>
            <a:endParaRPr/>
          </a:p>
        </p:txBody>
      </p:sp>
      <p:cxnSp>
        <p:nvCxnSpPr>
          <p:cNvPr id="618" name="Google Shape;618;p68"/>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19" name="Google Shape;619;p68"/>
          <p:cNvSpPr txBox="1"/>
          <p:nvPr/>
        </p:nvSpPr>
        <p:spPr>
          <a:xfrm>
            <a:off x="14244" y="1263042"/>
            <a:ext cx="11935565" cy="727571"/>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summary of various lock modes are as follows :</a:t>
            </a:r>
            <a:endParaRPr/>
          </a:p>
        </p:txBody>
      </p:sp>
      <p:pic>
        <p:nvPicPr>
          <p:cNvPr id="620" name="Google Shape;620;p68"/>
          <p:cNvPicPr preferRelativeResize="0"/>
          <p:nvPr/>
        </p:nvPicPr>
        <p:blipFill rotWithShape="1">
          <a:blip r:embed="rId3">
            <a:alphaModFix/>
          </a:blip>
          <a:srcRect b="0" l="0" r="0" t="0"/>
          <a:stretch/>
        </p:blipFill>
        <p:spPr>
          <a:xfrm>
            <a:off x="129520" y="2400592"/>
            <a:ext cx="11693060" cy="1723539"/>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69"/>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26" name="Google Shape;626;p69"/>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Lock Object Function Modules</a:t>
            </a:r>
            <a:endParaRPr/>
          </a:p>
        </p:txBody>
      </p:sp>
      <p:cxnSp>
        <p:nvCxnSpPr>
          <p:cNvPr id="627" name="Google Shape;627;p69"/>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28" name="Google Shape;628;p69"/>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Whenever we activate a lock object, SAP generates 2 function modules. One with ENQUEUE_lock object name and another with DEQUEUE_lock object name. </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Example - Suppose lock object name is EZ_VBELN , then the 2 generated function modules are - ENQUEUE_EZ_VBELN , DEQUEUE_EZ_VBELN. </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Enqueue function module is used for locking and dequeue function module is used for unlocking.</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0"/>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34" name="Google Shape;634;p70"/>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Table Maintenance Generator(TMG) Events</a:t>
            </a:r>
            <a:endParaRPr/>
          </a:p>
        </p:txBody>
      </p:sp>
      <p:cxnSp>
        <p:nvCxnSpPr>
          <p:cNvPr id="635" name="Google Shape;635;p70"/>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36" name="Google Shape;636;p70"/>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Event is always triggered by a specific action or a specific occurrence(when a particular time has been reached).</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example of specific actions are mouse click, pressing a key etc. The example of specific occurrence is running out of memory etc.</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same concept of events is applicable to TMG events. Some events trigger by specific user action and some events trigger at specific occurrence.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71"/>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42" name="Google Shape;642;p71"/>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Table Maintenance Generator(TMG) Events</a:t>
            </a:r>
            <a:endParaRPr/>
          </a:p>
        </p:txBody>
      </p:sp>
      <p:cxnSp>
        <p:nvCxnSpPr>
          <p:cNvPr id="643" name="Google Shape;643;p71"/>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44" name="Google Shape;644;p71"/>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Depends upon the requirement, we can add our own custom code using these TMG events.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We can navigate to TMG events through SE11 or SE54 transaction code.</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(Utilities-Table Maintenance Generator-Environment-Modification-Events)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72"/>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50" name="Google Shape;650;p72"/>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Concept of Text Tables</a:t>
            </a:r>
            <a:endParaRPr/>
          </a:p>
        </p:txBody>
      </p:sp>
      <p:cxnSp>
        <p:nvCxnSpPr>
          <p:cNvPr id="651" name="Google Shape;651;p72"/>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52" name="Google Shape;652;p72"/>
          <p:cNvSpPr txBox="1"/>
          <p:nvPr/>
        </p:nvSpPr>
        <p:spPr>
          <a:xfrm>
            <a:off x="14244" y="1263042"/>
            <a:ext cx="11935565" cy="6636881"/>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We create text tables, when we want to store explanatory text in multiple languages.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It is not advisable to store the texts in primary key table.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text table has the key fields of primary table and must have an additional language field. </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 the primary key table, we can check the text in logon language for the non-key fields of text table.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In text table, we can check the text in all the languages.</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3"/>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58" name="Google Shape;658;p73"/>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Check Table and Value Table  - Check Table</a:t>
            </a:r>
            <a:endParaRPr/>
          </a:p>
        </p:txBody>
      </p:sp>
      <p:cxnSp>
        <p:nvCxnSpPr>
          <p:cNvPr id="659" name="Google Shape;659;p73"/>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60" name="Google Shape;660;p73"/>
          <p:cNvSpPr txBox="1"/>
          <p:nvPr/>
        </p:nvSpPr>
        <p:spPr>
          <a:xfrm>
            <a:off x="14244" y="1263042"/>
            <a:ext cx="11935565" cy="5159554"/>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Check table works at field level.</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Check table checks the field values or restrict the field values.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When a field has a check table, the set of all possible entries to the field is defined by the contents of this check table.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contents of the check table are therefore offered automatically in the input help.  </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74"/>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66" name="Google Shape;666;p74"/>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Check Table and Value Table  - Value Table</a:t>
            </a:r>
            <a:endParaRPr/>
          </a:p>
        </p:txBody>
      </p:sp>
      <p:cxnSp>
        <p:nvCxnSpPr>
          <p:cNvPr id="667" name="Google Shape;667;p74"/>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68" name="Google Shape;668;p74"/>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Value table works at domain level.</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When we need the table fields referring to a domain should be checked against a certain table, we define a value table in the domain.</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When we enter a value table, the system can make a proposal and a value table becomes a check table when a foreign key is defined.</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75"/>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74" name="Google Shape;674;p75"/>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Concept of Initial Values Checkbox in Tables</a:t>
            </a:r>
            <a:endParaRPr/>
          </a:p>
        </p:txBody>
      </p:sp>
      <p:cxnSp>
        <p:nvCxnSpPr>
          <p:cNvPr id="675" name="Google Shape;675;p75"/>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76" name="Google Shape;676;p75"/>
          <p:cNvSpPr txBox="1"/>
          <p:nvPr/>
        </p:nvSpPr>
        <p:spPr>
          <a:xfrm>
            <a:off x="14244" y="1263042"/>
            <a:ext cx="11935565" cy="3682226"/>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We can select the checkbox Initial values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for table fields, then the type dependent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NOT NULL value be assigned to that field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and the flag for NOT NULL is set to true on</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database.</a:t>
            </a:r>
            <a:endParaRPr/>
          </a:p>
        </p:txBody>
      </p:sp>
      <p:sp>
        <p:nvSpPr>
          <p:cNvPr id="677" name="Google Shape;677;p75"/>
          <p:cNvSpPr txBox="1"/>
          <p:nvPr/>
        </p:nvSpPr>
        <p:spPr>
          <a:xfrm flipH="1">
            <a:off x="7102549" y="1269125"/>
            <a:ext cx="4251252"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Initial Values Checkbox in Tables</a:t>
            </a:r>
            <a:endParaRPr b="0" i="0" sz="1800" u="none" cap="none" strike="noStrike">
              <a:solidFill>
                <a:srgbClr val="000000"/>
              </a:solidFill>
              <a:latin typeface="Calibri"/>
              <a:ea typeface="Calibri"/>
              <a:cs typeface="Calibri"/>
              <a:sym typeface="Calibri"/>
            </a:endParaRPr>
          </a:p>
        </p:txBody>
      </p:sp>
      <p:pic>
        <p:nvPicPr>
          <p:cNvPr id="678" name="Google Shape;678;p75"/>
          <p:cNvPicPr preferRelativeResize="0"/>
          <p:nvPr/>
        </p:nvPicPr>
        <p:blipFill rotWithShape="1">
          <a:blip r:embed="rId3">
            <a:alphaModFix/>
          </a:blip>
          <a:srcRect b="0" l="0" r="0" t="0"/>
          <a:stretch/>
        </p:blipFill>
        <p:spPr>
          <a:xfrm>
            <a:off x="6717180" y="1638455"/>
            <a:ext cx="5105400" cy="3895725"/>
          </a:xfrm>
          <a:prstGeom prst="rect">
            <a:avLst/>
          </a:prstGeom>
          <a:noFill/>
          <a:ln cap="flat" cmpd="sng" w="9525">
            <a:solidFill>
              <a:srgbClr val="00B0F0"/>
            </a:solidFill>
            <a:prstDash val="solid"/>
            <a:round/>
            <a:headEnd len="sm" w="sm" type="none"/>
            <a:tailEnd len="sm" w="sm" type="none"/>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76"/>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84" name="Google Shape;684;p76"/>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Concept of Initial Values Checkbox in Tables(Contd.)</a:t>
            </a:r>
            <a:endParaRPr/>
          </a:p>
        </p:txBody>
      </p:sp>
      <p:cxnSp>
        <p:nvCxnSpPr>
          <p:cNvPr id="685" name="Google Shape;685;p76"/>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86" name="Google Shape;686;p76"/>
          <p:cNvSpPr txBox="1"/>
          <p:nvPr/>
        </p:nvSpPr>
        <p:spPr>
          <a:xfrm>
            <a:off x="14244" y="1263042"/>
            <a:ext cx="11935565" cy="2204899"/>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Many databases, by default initialize the value of a field as NOT NULL even if the initial value checkbox is not ticked.</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Path to check the Initial values of a field is : Utilities-Database object-Display.</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77"/>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692" name="Google Shape;692;p77"/>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Database Utility</a:t>
            </a:r>
            <a:endParaRPr/>
          </a:p>
        </p:txBody>
      </p:sp>
      <p:cxnSp>
        <p:nvCxnSpPr>
          <p:cNvPr id="693" name="Google Shape;693;p77"/>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694" name="Google Shape;694;p77"/>
          <p:cNvSpPr txBox="1"/>
          <p:nvPr/>
        </p:nvSpPr>
        <p:spPr>
          <a:xfrm>
            <a:off x="14244" y="1263042"/>
            <a:ext cx="11935565" cy="4420890"/>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database Utility acts as a interface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between the ABAP dictionary and the database.</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database utility allows you to edit database objects.</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The transaction code for database utility is SE14.</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Precaution : Do not perform any database operation </a:t>
            </a:r>
            <a:endParaRPr/>
          </a:p>
          <a:p>
            <a:pPr indent="0" lvl="1" marL="457200" marR="0" rtl="0" algn="l">
              <a:lnSpc>
                <a:spcPct val="200000"/>
              </a:lnSpc>
              <a:spcBef>
                <a:spcPts val="0"/>
              </a:spcBef>
              <a:spcAft>
                <a:spcPts val="0"/>
              </a:spcAft>
              <a:buClr>
                <a:srgbClr val="3B3838"/>
              </a:buClr>
              <a:buSzPts val="2400"/>
              <a:buFont typeface="Calibri"/>
              <a:buNone/>
            </a:pPr>
            <a:r>
              <a:rPr b="0" i="0" lang="en-US" sz="2400" u="none" cap="none" strike="noStrike">
                <a:solidFill>
                  <a:srgbClr val="3B3838"/>
                </a:solidFill>
                <a:latin typeface="Calibri"/>
                <a:ea typeface="Calibri"/>
                <a:cs typeface="Calibri"/>
                <a:sym typeface="Calibri"/>
              </a:rPr>
              <a:t>       on the table while performing the database utility.</a:t>
            </a:r>
            <a:endParaRPr/>
          </a:p>
        </p:txBody>
      </p:sp>
      <p:pic>
        <p:nvPicPr>
          <p:cNvPr id="695" name="Google Shape;695;p77"/>
          <p:cNvPicPr preferRelativeResize="0"/>
          <p:nvPr/>
        </p:nvPicPr>
        <p:blipFill rotWithShape="1">
          <a:blip r:embed="rId3">
            <a:alphaModFix/>
          </a:blip>
          <a:srcRect b="0" l="0" r="0" t="0"/>
          <a:stretch/>
        </p:blipFill>
        <p:spPr>
          <a:xfrm>
            <a:off x="8006902" y="1797732"/>
            <a:ext cx="4038600" cy="3886200"/>
          </a:xfrm>
          <a:prstGeom prst="rect">
            <a:avLst/>
          </a:prstGeom>
          <a:noFill/>
          <a:ln cap="flat" cmpd="sng" w="9525">
            <a:solidFill>
              <a:srgbClr val="00B0F0"/>
            </a:solidFill>
            <a:prstDash val="solid"/>
            <a:round/>
            <a:headEnd len="sm" w="sm" type="none"/>
            <a:tailEnd len="sm" w="sm" type="none"/>
          </a:ln>
        </p:spPr>
      </p:pic>
      <p:sp>
        <p:nvSpPr>
          <p:cNvPr id="696" name="Google Shape;696;p77"/>
          <p:cNvSpPr txBox="1"/>
          <p:nvPr/>
        </p:nvSpPr>
        <p:spPr>
          <a:xfrm flipH="1">
            <a:off x="8206564" y="1269125"/>
            <a:ext cx="3147237" cy="36933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                Database Utility</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78"/>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702" name="Google Shape;702;p78"/>
          <p:cNvSpPr txBox="1"/>
          <p:nvPr/>
        </p:nvSpPr>
        <p:spPr>
          <a:xfrm>
            <a:off x="443160" y="357542"/>
            <a:ext cx="10851392" cy="5355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200"/>
              <a:buFont typeface="Calibri"/>
              <a:buNone/>
            </a:pPr>
            <a:r>
              <a:rPr b="1" i="0" lang="en-US" sz="3200" u="none" cap="none" strike="noStrike">
                <a:solidFill>
                  <a:srgbClr val="0E5AEE"/>
                </a:solidFill>
                <a:latin typeface="Calibri"/>
                <a:ea typeface="Calibri"/>
                <a:cs typeface="Calibri"/>
                <a:sym typeface="Calibri"/>
              </a:rPr>
              <a:t>Important Transaction Codes</a:t>
            </a:r>
            <a:endParaRPr/>
          </a:p>
        </p:txBody>
      </p:sp>
      <p:cxnSp>
        <p:nvCxnSpPr>
          <p:cNvPr id="703" name="Google Shape;703;p78"/>
          <p:cNvCxnSpPr/>
          <p:nvPr/>
        </p:nvCxnSpPr>
        <p:spPr>
          <a:xfrm rot="10800000">
            <a:off x="369419" y="1059212"/>
            <a:ext cx="11453161" cy="1"/>
          </a:xfrm>
          <a:prstGeom prst="straightConnector1">
            <a:avLst/>
          </a:prstGeom>
          <a:noFill/>
          <a:ln cap="rnd" cmpd="sng" w="69850">
            <a:solidFill>
              <a:srgbClr val="8ED656"/>
            </a:solidFill>
            <a:prstDash val="solid"/>
            <a:miter lim="8000"/>
            <a:headEnd len="sm" w="sm" type="none"/>
            <a:tailEnd len="sm" w="sm" type="none"/>
          </a:ln>
        </p:spPr>
      </p:cxnSp>
      <p:sp>
        <p:nvSpPr>
          <p:cNvPr id="704" name="Google Shape;704;p78"/>
          <p:cNvSpPr txBox="1"/>
          <p:nvPr/>
        </p:nvSpPr>
        <p:spPr>
          <a:xfrm>
            <a:off x="14244" y="1263042"/>
            <a:ext cx="11935565" cy="5159554"/>
          </a:xfrm>
          <a:prstGeom prst="rect">
            <a:avLst/>
          </a:prstGeom>
          <a:noFill/>
          <a:ln>
            <a:noFill/>
          </a:ln>
        </p:spPr>
        <p:txBody>
          <a:bodyPr anchorCtr="0" anchor="t" bIns="45700" lIns="45700" spcFirstLastPara="1" rIns="45700" wrap="square" tIns="45700">
            <a:spAutoFit/>
          </a:bodyPr>
          <a:lstStyle/>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SE11 - Transaction code for Data Dictionary</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SE16 - Transaction code for Data Browser</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SE16N - Transaction code for New Data Browser</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SE14 - Transaction code for Database Utility</a:t>
            </a:r>
            <a:endParaRPr/>
          </a:p>
          <a:p>
            <a:pPr indent="-457200" lvl="1" marL="914400" marR="0" rtl="0" algn="l">
              <a:lnSpc>
                <a:spcPct val="200000"/>
              </a:lnSpc>
              <a:spcBef>
                <a:spcPts val="0"/>
              </a:spcBef>
              <a:spcAft>
                <a:spcPts val="0"/>
              </a:spcAft>
              <a:buClr>
                <a:srgbClr val="3B3838"/>
              </a:buClr>
              <a:buSzPts val="2400"/>
              <a:buFont typeface="Calibri"/>
              <a:buChar char="▪"/>
            </a:pPr>
            <a:r>
              <a:rPr b="0" i="0" lang="en-US" sz="2400" u="none" cap="none" strike="noStrike">
                <a:solidFill>
                  <a:srgbClr val="3B3838"/>
                </a:solidFill>
                <a:latin typeface="Calibri"/>
                <a:ea typeface="Calibri"/>
                <a:cs typeface="Calibri"/>
                <a:sym typeface="Calibri"/>
              </a:rPr>
              <a:t>SM12 - Transaction code for Lock Entries</a:t>
            </a:r>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a:p>
            <a:pPr indent="-304800" lvl="1" marL="914400" marR="0" rtl="0" algn="l">
              <a:lnSpc>
                <a:spcPct val="200000"/>
              </a:lnSpc>
              <a:spcBef>
                <a:spcPts val="0"/>
              </a:spcBef>
              <a:spcAft>
                <a:spcPts val="0"/>
              </a:spcAft>
              <a:buClr>
                <a:srgbClr val="3B3838"/>
              </a:buClr>
              <a:buSzPts val="2400"/>
              <a:buFont typeface="Trebuchet MS"/>
              <a:buNone/>
            </a:pPr>
            <a:r>
              <a:t/>
            </a:r>
            <a:endParaRPr b="0" i="0" sz="2400" u="none" cap="none" strike="noStrike">
              <a:solidFill>
                <a:srgbClr val="3B3838"/>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79"/>
          <p:cNvSpPr txBox="1"/>
          <p:nvPr>
            <p:ph idx="4294967295" type="sldNum"/>
          </p:nvPr>
        </p:nvSpPr>
        <p:spPr>
          <a:xfrm>
            <a:off x="11146671" y="6388617"/>
            <a:ext cx="207130" cy="300594"/>
          </a:xfrm>
          <a:prstGeom prst="rect">
            <a:avLst/>
          </a:prstGeom>
          <a:noFill/>
          <a:ln>
            <a:noFill/>
          </a:ln>
        </p:spPr>
        <p:txBody>
          <a:bodyPr anchorCtr="0" anchor="ctr" bIns="45700" lIns="45700" spcFirstLastPara="1" rIns="45700" wrap="square" tIns="45700">
            <a:spAutoFit/>
          </a:bodyPr>
          <a:lstStyle/>
          <a:p>
            <a:pPr indent="0" lvl="0" marL="0" rtl="0" algn="r">
              <a:lnSpc>
                <a:spcPct val="100000"/>
              </a:lnSpc>
              <a:spcBef>
                <a:spcPts val="0"/>
              </a:spcBef>
              <a:spcAft>
                <a:spcPts val="0"/>
              </a:spcAft>
              <a:buClr>
                <a:srgbClr val="888888"/>
              </a:buClr>
              <a:buSzPts val="1600"/>
              <a:buFont typeface="Calibri"/>
              <a:buNone/>
            </a:pPr>
            <a:fld id="{00000000-1234-1234-1234-123412341234}" type="slidenum">
              <a:rPr b="0" i="0" lang="en-US" sz="1600" u="none" cap="none" strike="noStrike">
                <a:solidFill>
                  <a:srgbClr val="888888"/>
                </a:solidFill>
                <a:latin typeface="Calibri"/>
                <a:ea typeface="Calibri"/>
                <a:cs typeface="Calibri"/>
                <a:sym typeface="Calibri"/>
              </a:rPr>
              <a:t>‹#›</a:t>
            </a:fld>
            <a:endParaRPr b="0" i="0" sz="1600" u="none" cap="none" strike="noStrike">
              <a:solidFill>
                <a:srgbClr val="888888"/>
              </a:solidFill>
              <a:latin typeface="Calibri"/>
              <a:ea typeface="Calibri"/>
              <a:cs typeface="Calibri"/>
              <a:sym typeface="Calibri"/>
            </a:endParaRPr>
          </a:p>
        </p:txBody>
      </p:sp>
      <p:sp>
        <p:nvSpPr>
          <p:cNvPr id="710" name="Google Shape;710;p79"/>
          <p:cNvSpPr txBox="1"/>
          <p:nvPr/>
        </p:nvSpPr>
        <p:spPr>
          <a:xfrm>
            <a:off x="2020186" y="2460208"/>
            <a:ext cx="6847367" cy="646331"/>
          </a:xfrm>
          <a:prstGeom prst="rect">
            <a:avLst/>
          </a:prstGeom>
          <a:noFill/>
          <a:ln>
            <a:noFill/>
          </a:ln>
        </p:spPr>
        <p:txBody>
          <a:bodyPr anchorCtr="0" anchor="t" bIns="45700" lIns="45700" spcFirstLastPara="1" rIns="45700" wrap="square" tIns="45700">
            <a:spAutoFit/>
          </a:bodyPr>
          <a:lstStyle/>
          <a:p>
            <a:pPr indent="0" lvl="0" marL="0" marR="0" rtl="0" algn="l">
              <a:lnSpc>
                <a:spcPct val="90000"/>
              </a:lnSpc>
              <a:spcBef>
                <a:spcPts val="0"/>
              </a:spcBef>
              <a:spcAft>
                <a:spcPts val="0"/>
              </a:spcAft>
              <a:buClr>
                <a:srgbClr val="0E5AEE"/>
              </a:buClr>
              <a:buSzPts val="3600"/>
              <a:buFont typeface="Calibri"/>
              <a:buNone/>
            </a:pPr>
            <a:r>
              <a:rPr b="1" i="0" lang="en-US" sz="3600" u="none" cap="none" strike="noStrike">
                <a:solidFill>
                  <a:srgbClr val="0E5AEE"/>
                </a:solidFill>
                <a:latin typeface="Calibri"/>
                <a:ea typeface="Calibri"/>
                <a:cs typeface="Calibri"/>
                <a:sym typeface="Calibri"/>
              </a:rPr>
              <a:t>                       </a:t>
            </a:r>
            <a:r>
              <a:rPr b="1" i="0" lang="en-US" sz="4000" u="none" cap="none" strike="noStrike">
                <a:solidFill>
                  <a:srgbClr val="0E5AEE"/>
                </a:solidFill>
                <a:latin typeface="Calibri"/>
                <a:ea typeface="Calibri"/>
                <a:cs typeface="Calibri"/>
                <a:sym typeface="Calibri"/>
              </a:rPr>
              <a:t>Thank You</a:t>
            </a:r>
            <a:endParaRPr b="1" i="0" sz="4000" u="none" cap="none" strike="noStrike">
              <a:solidFill>
                <a:srgbClr val="0E5AEE"/>
              </a:solidFill>
              <a:latin typeface="Calibri"/>
              <a:ea typeface="Calibri"/>
              <a:cs typeface="Calibri"/>
              <a:sym typeface="Calibri"/>
            </a:endParaRPr>
          </a:p>
        </p:txBody>
      </p:sp>
      <p:sp>
        <p:nvSpPr>
          <p:cNvPr id="711" name="Google Shape;711;p79"/>
          <p:cNvSpPr txBox="1"/>
          <p:nvPr/>
        </p:nvSpPr>
        <p:spPr>
          <a:xfrm>
            <a:off x="14244" y="1263042"/>
            <a:ext cx="11935565" cy="716991"/>
          </a:xfrm>
          <a:prstGeom prst="rect">
            <a:avLst/>
          </a:prstGeom>
          <a:noFill/>
          <a:ln>
            <a:noFill/>
          </a:ln>
        </p:spPr>
        <p:txBody>
          <a:bodyPr anchorCtr="0" anchor="t" bIns="45700" lIns="45700" spcFirstLastPara="1" rIns="45700" wrap="square" tIns="45700">
            <a:spAutoFit/>
          </a:bodyPr>
          <a:lstStyle/>
          <a:p>
            <a:pPr indent="0" lvl="1" marL="457200" marR="0" rtl="0" algn="l">
              <a:lnSpc>
                <a:spcPct val="200000"/>
              </a:lnSpc>
              <a:spcBef>
                <a:spcPts val="0"/>
              </a:spcBef>
              <a:spcAft>
                <a:spcPts val="0"/>
              </a:spcAft>
              <a:buClr>
                <a:srgbClr val="1F4E79"/>
              </a:buClr>
              <a:buSzPts val="1800"/>
              <a:buFont typeface="Trebuchet MS"/>
              <a:buNone/>
            </a:pPr>
            <a:r>
              <a:t/>
            </a:r>
            <a:endParaRPr b="0" i="0" sz="1800" u="none" cap="none" strike="noStrike">
              <a:solidFill>
                <a:srgbClr val="000000"/>
              </a:solidFill>
              <a:latin typeface="Calibri"/>
              <a:ea typeface="Calibri"/>
              <a:cs typeface="Calibri"/>
              <a:sym typeface="Calibri"/>
            </a:endParaRPr>
          </a:p>
        </p:txBody>
      </p:sp>
      <p:cxnSp>
        <p:nvCxnSpPr>
          <p:cNvPr id="712" name="Google Shape;712;p79"/>
          <p:cNvCxnSpPr/>
          <p:nvPr/>
        </p:nvCxnSpPr>
        <p:spPr>
          <a:xfrm rot="10800000">
            <a:off x="191386" y="3168502"/>
            <a:ext cx="11758422" cy="53162"/>
          </a:xfrm>
          <a:prstGeom prst="straightConnector1">
            <a:avLst/>
          </a:prstGeom>
          <a:noFill/>
          <a:ln cap="rnd" cmpd="sng" w="69850">
            <a:solidFill>
              <a:srgbClr val="8ED656"/>
            </a:solidFill>
            <a:prstDash val="solid"/>
            <a:miter lim="8000"/>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Rahul Mehta</dc:creator>
</cp:coreProperties>
</file>